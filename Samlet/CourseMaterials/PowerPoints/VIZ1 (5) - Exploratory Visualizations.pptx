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62" r:id="rId3"/>
    <p:sldId id="263" r:id="rId4"/>
    <p:sldId id="257" r:id="rId5"/>
    <p:sldId id="264" r:id="rId6"/>
    <p:sldId id="265" r:id="rId7"/>
    <p:sldId id="266" r:id="rId8"/>
    <p:sldId id="268" r:id="rId9"/>
    <p:sldId id="258" r:id="rId10"/>
    <p:sldId id="269" r:id="rId11"/>
    <p:sldId id="270" r:id="rId12"/>
    <p:sldId id="271" r:id="rId13"/>
    <p:sldId id="272" r:id="rId14"/>
    <p:sldId id="273" r:id="rId15"/>
    <p:sldId id="260" r:id="rId16"/>
    <p:sldId id="274" r:id="rId17"/>
    <p:sldId id="261" r:id="rId18"/>
  </p:sldIdLst>
  <p:sldSz cx="12192000" cy="6858000"/>
  <p:notesSz cx="6858000" cy="9144000"/>
  <p:defaultTextStyle>
    <a:defPPr>
      <a:defRPr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72367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30491737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8FA0BE78-136C-4EB0-82F8-6F89320A54EA}" type="datetimeFigureOut">
              <a:rPr lang="en-US"/>
              <a:t>10/5/2026</a:t>
            </a:fld>
            <a:endParaRPr/>
          </a:p>
        </p:txBody>
      </p:sp>
      <p:sp>
        <p:nvSpPr>
          <p:cNvPr id="1686487674" name="Slide Image Placeholder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287756586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80491112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14388210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7615A648-1CE8-47C1-8D94-DC119F73BBF3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384527B-780D-FBD0-37D3-F44CB21E4C2C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0697398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927197447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/>
          </a:p>
        </p:txBody>
      </p:sp>
      <p:sp>
        <p:nvSpPr>
          <p:cNvPr id="210926672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73392FD-379A-43EF-B521-645325000CC0}" type="datetime1">
              <a:rPr lang="en-GB"/>
              <a:t>05/10/2026</a:t>
            </a:fld>
            <a:endParaRPr/>
          </a:p>
        </p:txBody>
      </p:sp>
      <p:sp>
        <p:nvSpPr>
          <p:cNvPr id="119043884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31600556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233982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47785082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</a:p>
          <a:p>
            <a:pPr lvl="1">
              <a:defRPr/>
            </a:pPr>
            <a:r>
              <a:rPr lang="en-US"/>
              <a:t>Second level</a:t>
            </a:r>
          </a:p>
          <a:p>
            <a:pPr lvl="2">
              <a:defRPr/>
            </a:pPr>
            <a:r>
              <a:rPr lang="en-US"/>
              <a:t>Third level</a:t>
            </a:r>
          </a:p>
          <a:p>
            <a:pPr lvl="3">
              <a:defRPr/>
            </a:pPr>
            <a:r>
              <a:rPr lang="en-US"/>
              <a:t>Fourth level</a:t>
            </a:r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31975086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B8183B9-126C-4932-94BE-502505D2BD01}" type="datetime1">
              <a:rPr lang="en-GB"/>
              <a:t>05/10/2026</a:t>
            </a:fld>
            <a:endParaRPr/>
          </a:p>
        </p:txBody>
      </p:sp>
      <p:sp>
        <p:nvSpPr>
          <p:cNvPr id="112587373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187929122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Co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529559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0088080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61C97FE-D1A0-4415-8424-9D0DD0C9B6F2}" type="datetime1">
              <a:rPr lang="en-GB"/>
              <a:t>05/10/2026</a:t>
            </a:fld>
            <a:endParaRPr/>
          </a:p>
        </p:txBody>
      </p:sp>
      <p:sp>
        <p:nvSpPr>
          <p:cNvPr id="118219538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120574252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  <p:sp>
        <p:nvSpPr>
          <p:cNvPr id="877231443" name="Text Placeholder 7"/>
          <p:cNvSpPr>
            <a:spLocks noGrp="1"/>
          </p:cNvSpPr>
          <p:nvPr>
            <p:ph type="body" sz="quarter" idx="13"/>
          </p:nvPr>
        </p:nvSpPr>
        <p:spPr bwMode="auto">
          <a:xfrm>
            <a:off x="838200" y="1836739"/>
            <a:ext cx="10515600" cy="4373562"/>
          </a:xfrm>
        </p:spPr>
        <p:txBody>
          <a:bodyPr/>
          <a:lstStyle>
            <a:lvl1pPr marL="0" indent="0">
              <a:buNone/>
              <a:defRPr>
                <a:latin typeface="Consola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Side-by-side co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272066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04761992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36E4093-7D3B-46F0-B134-FA1D41D0750C}" type="datetime1">
              <a:rPr lang="en-GB"/>
              <a:t>05/10/2026</a:t>
            </a:fld>
            <a:endParaRPr/>
          </a:p>
        </p:txBody>
      </p:sp>
      <p:sp>
        <p:nvSpPr>
          <p:cNvPr id="87949126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31410026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  <p:sp>
        <p:nvSpPr>
          <p:cNvPr id="603657387" name="Text Placeholder 7"/>
          <p:cNvSpPr>
            <a:spLocks noGrp="1"/>
          </p:cNvSpPr>
          <p:nvPr>
            <p:ph type="body" sz="quarter" idx="13"/>
          </p:nvPr>
        </p:nvSpPr>
        <p:spPr bwMode="auto">
          <a:xfrm>
            <a:off x="838200" y="1801690"/>
            <a:ext cx="5181601" cy="4414472"/>
          </a:xfrm>
        </p:spPr>
        <p:txBody>
          <a:bodyPr/>
          <a:lstStyle>
            <a:lvl1pPr marL="0" indent="0">
              <a:buNone/>
              <a:defRPr>
                <a:latin typeface="Consola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43127892" name="Text Placeholder 7"/>
          <p:cNvSpPr>
            <a:spLocks noGrp="1"/>
          </p:cNvSpPr>
          <p:nvPr>
            <p:ph type="body" sz="quarter" idx="14"/>
          </p:nvPr>
        </p:nvSpPr>
        <p:spPr bwMode="auto">
          <a:xfrm>
            <a:off x="6172201" y="1801690"/>
            <a:ext cx="5181601" cy="4414472"/>
          </a:xfrm>
        </p:spPr>
        <p:txBody>
          <a:bodyPr/>
          <a:lstStyle>
            <a:lvl1pPr marL="0" indent="0">
              <a:buNone/>
              <a:defRPr>
                <a:latin typeface="Consola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Code explana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272066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04761992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36E4093-7D3B-46F0-B134-FA1D41D0750C}" type="datetime1">
              <a:rPr lang="en-GB"/>
              <a:t>05/10/2026</a:t>
            </a:fld>
            <a:endParaRPr/>
          </a:p>
        </p:txBody>
      </p:sp>
      <p:sp>
        <p:nvSpPr>
          <p:cNvPr id="87949126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31410026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  <p:sp>
        <p:nvSpPr>
          <p:cNvPr id="643127892" name="Text Placeholder 7"/>
          <p:cNvSpPr>
            <a:spLocks noGrp="1"/>
          </p:cNvSpPr>
          <p:nvPr>
            <p:ph type="body" sz="quarter" idx="14"/>
          </p:nvPr>
        </p:nvSpPr>
        <p:spPr bwMode="auto">
          <a:xfrm>
            <a:off x="6172201" y="1801690"/>
            <a:ext cx="5181601" cy="4414472"/>
          </a:xfrm>
        </p:spPr>
        <p:txBody>
          <a:bodyPr/>
          <a:lstStyle>
            <a:lvl1pPr marL="0" indent="0">
              <a:buNone/>
              <a:defRPr>
                <a:latin typeface="Consola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B4443D8-DF7D-DB0C-08BF-EB5FF74238E0}"/>
              </a:ext>
            </a:extLst>
          </p:cNvPr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</a:p>
          <a:p>
            <a:pPr lvl="1">
              <a:defRPr/>
            </a:pPr>
            <a:r>
              <a:rPr lang="en-US"/>
              <a:t>Second level</a:t>
            </a:r>
          </a:p>
          <a:p>
            <a:pPr lvl="2">
              <a:defRPr/>
            </a:pPr>
            <a:r>
              <a:rPr lang="en-US"/>
              <a:t>Third level</a:t>
            </a:r>
          </a:p>
          <a:p>
            <a:pPr lvl="3">
              <a:defRPr/>
            </a:pPr>
            <a:r>
              <a:rPr lang="en-US"/>
              <a:t>Fourth level</a:t>
            </a:r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2614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Code 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958788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4391762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48317215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95089941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1935D3F-7175-495B-9EBA-23EFABDFFDE4}" type="datetime1">
              <a:rPr lang="en-GB"/>
              <a:t>05/10/2026</a:t>
            </a:fld>
            <a:endParaRPr/>
          </a:p>
        </p:txBody>
      </p:sp>
      <p:sp>
        <p:nvSpPr>
          <p:cNvPr id="1518594841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50321131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  <p:sp>
        <p:nvSpPr>
          <p:cNvPr id="777220082" name="Text Placeholder 7"/>
          <p:cNvSpPr>
            <a:spLocks noGrp="1"/>
          </p:cNvSpPr>
          <p:nvPr>
            <p:ph type="body" sz="quarter" idx="13"/>
          </p:nvPr>
        </p:nvSpPr>
        <p:spPr bwMode="auto">
          <a:xfrm>
            <a:off x="837408" y="2516066"/>
            <a:ext cx="5157788" cy="3728671"/>
          </a:xfrm>
        </p:spPr>
        <p:txBody>
          <a:bodyPr/>
          <a:lstStyle>
            <a:lvl1pPr marL="0" indent="0">
              <a:buNone/>
              <a:defRPr>
                <a:latin typeface="Consola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797850858" name="Text Placeholder 7"/>
          <p:cNvSpPr>
            <a:spLocks noGrp="1"/>
          </p:cNvSpPr>
          <p:nvPr>
            <p:ph type="body" sz="quarter" idx="14"/>
          </p:nvPr>
        </p:nvSpPr>
        <p:spPr bwMode="auto">
          <a:xfrm>
            <a:off x="6172993" y="2516066"/>
            <a:ext cx="5181601" cy="3728671"/>
          </a:xfrm>
        </p:spPr>
        <p:txBody>
          <a:bodyPr/>
          <a:lstStyle>
            <a:lvl1pPr marL="0" indent="0">
              <a:buNone/>
              <a:defRPr>
                <a:latin typeface="Consola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4394272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08491258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173865329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C1640DE-560F-49EC-947F-96B0BAAE894C}" type="datetime1">
              <a:rPr lang="en-GB"/>
              <a:t>05/10/2026</a:t>
            </a:fld>
            <a:endParaRPr/>
          </a:p>
        </p:txBody>
      </p:sp>
      <p:sp>
        <p:nvSpPr>
          <p:cNvPr id="5308244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95596674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638667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650695850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</a:p>
          <a:p>
            <a:pPr lvl="1">
              <a:defRPr/>
            </a:pPr>
            <a:r>
              <a:rPr lang="en-US"/>
              <a:t>Second level</a:t>
            </a:r>
          </a:p>
          <a:p>
            <a:pPr lvl="2">
              <a:defRPr/>
            </a:pPr>
            <a:r>
              <a:rPr lang="en-US"/>
              <a:t>Third level</a:t>
            </a:r>
          </a:p>
          <a:p>
            <a:pPr lvl="3">
              <a:defRPr/>
            </a:pPr>
            <a:r>
              <a:rPr lang="en-US"/>
              <a:t>Fourth level</a:t>
            </a:r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37937217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</a:p>
          <a:p>
            <a:pPr lvl="1">
              <a:defRPr/>
            </a:pPr>
            <a:r>
              <a:rPr lang="en-US"/>
              <a:t>Second level</a:t>
            </a:r>
          </a:p>
          <a:p>
            <a:pPr lvl="2">
              <a:defRPr/>
            </a:pPr>
            <a:r>
              <a:rPr lang="en-US"/>
              <a:t>Third level</a:t>
            </a:r>
          </a:p>
          <a:p>
            <a:pPr lvl="3">
              <a:defRPr/>
            </a:pPr>
            <a:r>
              <a:rPr lang="en-US"/>
              <a:t>Fourth level</a:t>
            </a:r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9959715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B7FFBE2-17ED-4487-A6AD-53E5CC708D51}" type="datetime1">
              <a:rPr lang="en-GB"/>
              <a:t>05/10/2026</a:t>
            </a:fld>
            <a:endParaRPr/>
          </a:p>
        </p:txBody>
      </p:sp>
      <p:sp>
        <p:nvSpPr>
          <p:cNvPr id="4734791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190880977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1737506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95513803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30045767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</a:p>
          <a:p>
            <a:pPr lvl="1">
              <a:defRPr/>
            </a:pPr>
            <a:r>
              <a:rPr lang="en-US"/>
              <a:t>Second level</a:t>
            </a:r>
          </a:p>
          <a:p>
            <a:pPr lvl="2">
              <a:defRPr/>
            </a:pPr>
            <a:r>
              <a:rPr lang="en-US"/>
              <a:t>Third level</a:t>
            </a:r>
          </a:p>
          <a:p>
            <a:pPr lvl="3">
              <a:defRPr/>
            </a:pPr>
            <a:r>
              <a:rPr lang="en-US"/>
              <a:t>Fourth level</a:t>
            </a:r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510413374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191530709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</a:p>
          <a:p>
            <a:pPr lvl="1">
              <a:defRPr/>
            </a:pPr>
            <a:r>
              <a:rPr lang="en-US"/>
              <a:t>Second level</a:t>
            </a:r>
          </a:p>
          <a:p>
            <a:pPr lvl="2">
              <a:defRPr/>
            </a:pPr>
            <a:r>
              <a:rPr lang="en-US"/>
              <a:t>Third level</a:t>
            </a:r>
          </a:p>
          <a:p>
            <a:pPr lvl="3">
              <a:defRPr/>
            </a:pPr>
            <a:r>
              <a:rPr lang="en-US"/>
              <a:t>Fourth level</a:t>
            </a:r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854416960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8F46DC4-28AD-4138-B93F-56B62008EDF1}" type="datetime1">
              <a:rPr lang="en-GB"/>
              <a:t>05/10/2026</a:t>
            </a:fld>
            <a:endParaRPr/>
          </a:p>
        </p:txBody>
      </p:sp>
      <p:sp>
        <p:nvSpPr>
          <p:cNvPr id="1203786951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547694008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455722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824200040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2637B48-7300-4AA3-A318-3DF410CB4F23}" type="datetime1">
              <a:rPr lang="en-GB"/>
              <a:t>05/10/2026</a:t>
            </a:fld>
            <a:endParaRPr/>
          </a:p>
        </p:txBody>
      </p:sp>
      <p:sp>
        <p:nvSpPr>
          <p:cNvPr id="1289639320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1476654514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1121719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8DB52B6-2546-43FF-B3EF-41EE09B1A28D}" type="datetime1">
              <a:rPr lang="en-GB"/>
              <a:t>05/10/2026</a:t>
            </a:fld>
            <a:endParaRPr/>
          </a:p>
        </p:txBody>
      </p:sp>
      <p:sp>
        <p:nvSpPr>
          <p:cNvPr id="1890658179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856653170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3761264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728857015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</a:p>
          <a:p>
            <a:pPr lvl="1">
              <a:defRPr/>
            </a:pPr>
            <a:r>
              <a:rPr lang="en-US"/>
              <a:t>Second level</a:t>
            </a:r>
          </a:p>
          <a:p>
            <a:pPr lvl="2">
              <a:defRPr/>
            </a:pPr>
            <a:r>
              <a:rPr lang="en-US"/>
              <a:t>Third level</a:t>
            </a:r>
          </a:p>
          <a:p>
            <a:pPr lvl="3">
              <a:defRPr/>
            </a:pPr>
            <a:r>
              <a:rPr lang="en-US"/>
              <a:t>Fourth level</a:t>
            </a:r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49969068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27035799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D8BA3DE-D664-485B-A670-4F9846D9F00F}" type="datetime1">
              <a:rPr lang="en-GB"/>
              <a:t>05/10/2026</a:t>
            </a:fld>
            <a:endParaRPr/>
          </a:p>
        </p:txBody>
      </p:sp>
      <p:sp>
        <p:nvSpPr>
          <p:cNvPr id="171869080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44014203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409299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803363885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/>
          </a:p>
        </p:txBody>
      </p:sp>
      <p:sp>
        <p:nvSpPr>
          <p:cNvPr id="113294180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40699214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C998E3B-E64A-4693-A308-7951ECA79B15}" type="datetime1">
              <a:rPr lang="en-GB"/>
              <a:t>05/10/2026</a:t>
            </a:fld>
            <a:endParaRPr/>
          </a:p>
        </p:txBody>
      </p:sp>
      <p:sp>
        <p:nvSpPr>
          <p:cNvPr id="70506847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194902852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396049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602233911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</a:p>
          <a:p>
            <a:pPr lvl="1">
              <a:defRPr/>
            </a:pPr>
            <a:r>
              <a:rPr lang="en-US"/>
              <a:t>Second level</a:t>
            </a:r>
          </a:p>
          <a:p>
            <a:pPr lvl="2">
              <a:defRPr/>
            </a:pPr>
            <a:r>
              <a:rPr lang="en-US"/>
              <a:t>Third level</a:t>
            </a:r>
          </a:p>
          <a:p>
            <a:pPr lvl="3">
              <a:defRPr/>
            </a:pPr>
            <a:r>
              <a:rPr lang="en-US"/>
              <a:t>Fourth level</a:t>
            </a:r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198334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836B53B-F8BB-43CD-B391-40C014116A36}" type="datetime1">
              <a:rPr lang="en-GB"/>
              <a:t>05/10/2026</a:t>
            </a:fld>
            <a:endParaRPr/>
          </a:p>
        </p:txBody>
      </p:sp>
      <p:sp>
        <p:nvSpPr>
          <p:cNvPr id="208553416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16535289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5847585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831198049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</a:p>
          <a:p>
            <a:pPr lvl="1">
              <a:defRPr/>
            </a:pPr>
            <a:r>
              <a:rPr lang="en-US"/>
              <a:t>Second level</a:t>
            </a:r>
          </a:p>
          <a:p>
            <a:pPr lvl="2">
              <a:defRPr/>
            </a:pPr>
            <a:r>
              <a:rPr lang="en-US"/>
              <a:t>Third level</a:t>
            </a:r>
          </a:p>
          <a:p>
            <a:pPr lvl="3">
              <a:defRPr/>
            </a:pPr>
            <a:r>
              <a:rPr lang="en-US"/>
              <a:t>Fourth level</a:t>
            </a:r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638147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1118B8D-3A7E-4793-8999-657BC3EF6574}" type="datetime1">
              <a:rPr lang="en-GB"/>
              <a:t>05/10/2026</a:t>
            </a:fld>
            <a:endParaRPr/>
          </a:p>
        </p:txBody>
      </p:sp>
      <p:sp>
        <p:nvSpPr>
          <p:cNvPr id="77891508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170561030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4518474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72397247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</a:p>
          <a:p>
            <a:pPr lvl="1">
              <a:defRPr/>
            </a:pPr>
            <a:r>
              <a:rPr lang="en-US"/>
              <a:t>Second level</a:t>
            </a:r>
          </a:p>
          <a:p>
            <a:pPr lvl="2">
              <a:defRPr/>
            </a:pPr>
            <a:r>
              <a:rPr lang="en-US"/>
              <a:t>Third level</a:t>
            </a:r>
          </a:p>
          <a:p>
            <a:pPr lvl="3">
              <a:defRPr/>
            </a:pPr>
            <a:r>
              <a:rPr lang="en-US"/>
              <a:t>Fourth level</a:t>
            </a:r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242150781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DA4C8AB-6B00-48F2-89BC-5CCAE9514F64}" type="datetime1">
              <a:rPr lang="en-GB"/>
              <a:t>05/10/2026</a:t>
            </a:fld>
            <a:endParaRPr/>
          </a:p>
        </p:txBody>
      </p:sp>
      <p:sp>
        <p:nvSpPr>
          <p:cNvPr id="1353248652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1147976381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63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hdr="0"/>
  <p:txStyles>
    <p:titleStyle>
      <a:lvl1pPr algn="l" defTabSz="914400" rtl="0" eaLnBrk="1" hangingPunct="1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hangingPunct="1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hangingPunct="1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hangingPunct="1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hangingPunct="1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hangingPunct="1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hangingPunct="1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hangingPunct="1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hangingPunct="1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hangingPunct="1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hangingPunct="1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hangingPunct="1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hangingPunct="1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hangingPunct="1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hangingPunct="1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hangingPunct="1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hangingPunct="1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hangingPunct="1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hangingPunct="1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1173341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 dirty="0"/>
              <a:t>VIZ1, Session 5</a:t>
            </a:r>
            <a:endParaRPr dirty="0"/>
          </a:p>
        </p:txBody>
      </p:sp>
      <p:sp>
        <p:nvSpPr>
          <p:cNvPr id="456099254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GB" dirty="0"/>
              <a:t>Exploratory Visualizations</a:t>
            </a:r>
            <a:endParaRPr dirty="0"/>
          </a:p>
        </p:txBody>
      </p:sp>
      <p:sp>
        <p:nvSpPr>
          <p:cNvPr id="260260190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4A1FCB8-642A-4A5E-B6E8-4571E484A705}" type="datetime1">
              <a:rPr lang="en-GB"/>
              <a:t>05/10/2026</a:t>
            </a:fld>
            <a:endParaRPr/>
          </a:p>
        </p:txBody>
      </p:sp>
      <p:sp>
        <p:nvSpPr>
          <p:cNvPr id="730514835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442357318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1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5CA16-3D13-6FDD-3207-8BBC37377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Designing visualizations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C8C987-899F-E65D-D477-2C884BEE61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 design visualizations in 4 main steps</a:t>
            </a:r>
          </a:p>
          <a:p>
            <a:r>
              <a:rPr lang="en-GB" dirty="0"/>
              <a:t>Always iterate over a design using outside feedback</a:t>
            </a:r>
          </a:p>
          <a:p>
            <a:r>
              <a:rPr lang="en-GB" dirty="0"/>
              <a:t>The steps are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Explore dataset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Generate ideas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Select visualization type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Implement</a:t>
            </a:r>
            <a:endParaRPr lang="LID4096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1DBE4-6CA8-08FA-2BB4-75E589EAB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8183B9-126C-4932-94BE-502505D2BD01}" type="datetime1">
              <a:rPr lang="en-GB" smtClean="0"/>
              <a:t>05/10/2026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441E45-3077-57FA-2E1E-0649D5A42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C24295-0FF3-CEE7-6FA8-119D46627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DK" smtClean="0"/>
              <a:t>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648187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505AC-2815-8C07-400B-4AA4F3420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(1) Exploring a dataset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CF5616-E54E-461C-79A6-02AB50F29C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What type of dataset is it?</a:t>
            </a:r>
          </a:p>
          <a:p>
            <a:r>
              <a:rPr lang="en-GB" dirty="0"/>
              <a:t>What are the types of data in the set?</a:t>
            </a:r>
          </a:p>
          <a:p>
            <a:r>
              <a:rPr lang="en-GB" dirty="0"/>
              <a:t>Which attributes are available for display?</a:t>
            </a:r>
          </a:p>
          <a:p>
            <a:r>
              <a:rPr lang="en-GB" dirty="0"/>
              <a:t>What are their types?</a:t>
            </a:r>
          </a:p>
          <a:p>
            <a:endParaRPr lang="en-GB" dirty="0"/>
          </a:p>
          <a:p>
            <a:endParaRPr lang="LID4096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EC645-FBF6-67DD-DDE7-FB36B5BFD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8183B9-126C-4932-94BE-502505D2BD01}" type="datetime1">
              <a:rPr lang="en-GB" smtClean="0"/>
              <a:t>05/10/2026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8AFF4F-1A17-0544-5968-9F0113236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CF51EE-E90E-37A8-BB2D-17C53055B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DK" smtClean="0"/>
              <a:t>3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7387344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5CD49-70FC-1C8A-637C-3238649D3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Dataset Types</a:t>
            </a:r>
            <a:endParaRPr lang="LID4096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BCF0589-5AC8-2F5A-B38A-C047E932D3B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Tables</a:t>
            </a:r>
          </a:p>
          <a:p>
            <a:pPr lvl="1"/>
            <a:r>
              <a:rPr lang="en-GB" dirty="0"/>
              <a:t>Items (rows) containing keys + values</a:t>
            </a:r>
          </a:p>
          <a:p>
            <a:r>
              <a:rPr lang="en-GB" dirty="0"/>
              <a:t>Networks (graphs) and trees</a:t>
            </a:r>
          </a:p>
          <a:p>
            <a:pPr lvl="1"/>
            <a:r>
              <a:rPr lang="en-GB" dirty="0"/>
              <a:t>Items (nodes) and links (edges)</a:t>
            </a:r>
          </a:p>
          <a:p>
            <a:r>
              <a:rPr lang="en-GB" dirty="0"/>
              <a:t>Fields</a:t>
            </a:r>
          </a:p>
          <a:p>
            <a:pPr lvl="1"/>
            <a:r>
              <a:rPr lang="en-GB" dirty="0"/>
              <a:t>Cells (items) arranged in a grid</a:t>
            </a:r>
          </a:p>
          <a:p>
            <a:r>
              <a:rPr lang="en-GB" dirty="0"/>
              <a:t>Spatial (geodata)</a:t>
            </a:r>
          </a:p>
          <a:p>
            <a:pPr lvl="1"/>
            <a:r>
              <a:rPr lang="en-GB" dirty="0"/>
              <a:t>Items arranged in physical locations</a:t>
            </a:r>
            <a:endParaRPr lang="LID4096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82584B59-83A5-06DE-ABE6-CF11A93CA34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 bwMode="auto">
          <a:xfrm>
            <a:off x="6533839" y="2100791"/>
            <a:ext cx="4458322" cy="3801005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ACFC1C-4617-FE0B-5002-FA0CFC344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8183B9-126C-4932-94BE-502505D2BD01}" type="datetime1">
              <a:rPr lang="en-GB" smtClean="0"/>
              <a:t>05/10/2026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35EAFD-50A2-9329-EEBC-4FAF5381D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581A40-BCC1-8F8B-4D55-B3C50D88A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DK" smtClean="0"/>
              <a:t>4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15178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43C07-7176-3522-82A0-33083B984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Types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796563-92E5-664C-77EC-76F5E02F9DF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Items</a:t>
            </a:r>
          </a:p>
          <a:p>
            <a:pPr lvl="1"/>
            <a:r>
              <a:rPr lang="en-GB" dirty="0"/>
              <a:t>Items consist of attributes</a:t>
            </a:r>
          </a:p>
          <a:p>
            <a:pPr lvl="1"/>
            <a:r>
              <a:rPr lang="en-GB" dirty="0"/>
              <a:t>In tables, one or more attributes are keys and the rest are values</a:t>
            </a:r>
          </a:p>
          <a:p>
            <a:r>
              <a:rPr lang="en-GB" dirty="0"/>
              <a:t>Links are connections between items</a:t>
            </a:r>
          </a:p>
          <a:p>
            <a:pPr lvl="1"/>
            <a:r>
              <a:rPr lang="en-GB" dirty="0"/>
              <a:t>Typically used in networks</a:t>
            </a:r>
          </a:p>
          <a:p>
            <a:r>
              <a:rPr lang="en-GB" dirty="0"/>
              <a:t>Positions are 2D or 3D locations</a:t>
            </a:r>
          </a:p>
          <a:p>
            <a:r>
              <a:rPr lang="en-GB" dirty="0"/>
              <a:t>Attributes contain singular data</a:t>
            </a:r>
          </a:p>
          <a:p>
            <a:endParaRPr lang="LID4096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B17D25C-898E-6E68-B233-DF44099C1BD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 bwMode="auto">
          <a:xfrm>
            <a:off x="6530780" y="1690688"/>
            <a:ext cx="4610743" cy="1428949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14509B-A006-E0B5-66D9-F709AFC97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B7FFBE2-17ED-4487-A6AD-53E5CC708D51}" type="datetime1">
              <a:rPr lang="en-GB" smtClean="0"/>
              <a:t>05/10/2026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99CFA4-8E1F-45F5-F4A8-8A03D9525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A316A8-8F50-4AAB-975F-1DAA36547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DK" smtClean="0"/>
              <a:t>5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796737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B89CA-387E-13A0-0562-EC6F8978D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Attribute Types</a:t>
            </a:r>
            <a:endParaRPr lang="LID4096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C149A0F9-C425-2D27-3EA3-B8ECC97517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05882433"/>
              </p:ext>
            </p:extLst>
          </p:nvPr>
        </p:nvGraphicFramePr>
        <p:xfrm>
          <a:off x="838201" y="1825624"/>
          <a:ext cx="5791200" cy="453072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1085">
                  <a:extLst>
                    <a:ext uri="{9D8B030D-6E8A-4147-A177-3AD203B41FA5}">
                      <a16:colId xmlns:a16="http://schemas.microsoft.com/office/drawing/2014/main" val="3249087719"/>
                    </a:ext>
                  </a:extLst>
                </a:gridCol>
                <a:gridCol w="2591506">
                  <a:extLst>
                    <a:ext uri="{9D8B030D-6E8A-4147-A177-3AD203B41FA5}">
                      <a16:colId xmlns:a16="http://schemas.microsoft.com/office/drawing/2014/main" val="2173351442"/>
                    </a:ext>
                  </a:extLst>
                </a:gridCol>
                <a:gridCol w="2578609">
                  <a:extLst>
                    <a:ext uri="{9D8B030D-6E8A-4147-A177-3AD203B41FA5}">
                      <a16:colId xmlns:a16="http://schemas.microsoft.com/office/drawing/2014/main" val="4045987233"/>
                    </a:ext>
                  </a:extLst>
                </a:gridCol>
              </a:tblGrid>
              <a:tr h="642119">
                <a:tc>
                  <a:txBody>
                    <a:bodyPr/>
                    <a:lstStyle/>
                    <a:p>
                      <a:endParaRPr lang="LID4096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Discrete</a:t>
                      </a:r>
                      <a:endParaRPr lang="LID4096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Continuous</a:t>
                      </a:r>
                      <a:endParaRPr lang="LID4096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7067124"/>
                  </a:ext>
                </a:extLst>
              </a:tr>
              <a:tr h="1944304">
                <a:tc>
                  <a:txBody>
                    <a:bodyPr/>
                    <a:lstStyle/>
                    <a:p>
                      <a:endParaRPr lang="LID4096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809250"/>
                  </a:ext>
                </a:extLst>
              </a:tr>
              <a:tr h="1944304">
                <a:tc>
                  <a:txBody>
                    <a:bodyPr/>
                    <a:lstStyle/>
                    <a:p>
                      <a:endParaRPr lang="LID4096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1794508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7350CA-9DE5-A051-655E-EF71873E1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8183B9-126C-4932-94BE-502505D2BD01}" type="datetime1">
              <a:rPr lang="en-GB" smtClean="0"/>
              <a:t>05/10/2026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4FEF3D-8819-BB66-4598-896ED5153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3D7EE1-1064-B696-4133-39669170E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DK" smtClean="0"/>
              <a:t>6</a:t>
            </a:fld>
            <a:endParaRPr lang="en-DK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29C969-E540-1EAA-92AF-734220B2AF0B}"/>
              </a:ext>
            </a:extLst>
          </p:cNvPr>
          <p:cNvSpPr txBox="1"/>
          <p:nvPr/>
        </p:nvSpPr>
        <p:spPr>
          <a:xfrm rot="16200000">
            <a:off x="588465" y="3198167"/>
            <a:ext cx="12346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Ordered</a:t>
            </a:r>
            <a:endParaRPr lang="LID4096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D69136-AABD-DC3C-C9BC-52B19CEDF8B2}"/>
              </a:ext>
            </a:extLst>
          </p:cNvPr>
          <p:cNvSpPr txBox="1"/>
          <p:nvPr/>
        </p:nvSpPr>
        <p:spPr>
          <a:xfrm rot="16200000">
            <a:off x="429768" y="5049849"/>
            <a:ext cx="15520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Unordered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6487191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84EAF-B2DE-419D-11DE-73D99B91F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Ordering direction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D3B9CB-76EB-28BF-FABB-A4F0EFD3A54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Sequential</a:t>
            </a:r>
          </a:p>
          <a:p>
            <a:pPr lvl="1"/>
            <a:r>
              <a:rPr lang="en-GB" dirty="0"/>
              <a:t>Starting from a minimum (e.g. 0) and up</a:t>
            </a:r>
          </a:p>
          <a:p>
            <a:r>
              <a:rPr lang="en-GB" dirty="0"/>
              <a:t>Diverging</a:t>
            </a:r>
          </a:p>
          <a:p>
            <a:pPr lvl="1"/>
            <a:r>
              <a:rPr lang="en-GB" dirty="0"/>
              <a:t>Going either way from a neutral midpoint</a:t>
            </a:r>
          </a:p>
          <a:p>
            <a:r>
              <a:rPr lang="en-GB" dirty="0"/>
              <a:t>Cyclic</a:t>
            </a:r>
          </a:p>
          <a:p>
            <a:pPr lvl="1"/>
            <a:r>
              <a:rPr lang="en-GB" dirty="0"/>
              <a:t>When the maximum is semantically similar to the minimum </a:t>
            </a:r>
            <a:endParaRPr lang="LID4096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BF799D5-1425-98BA-45CE-731EB915668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 bwMode="auto">
          <a:xfrm>
            <a:off x="7132320" y="1820260"/>
            <a:ext cx="3035807" cy="406039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70AED7-6EF5-C27E-C4D2-F0ED16D98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8183B9-126C-4932-94BE-502505D2BD01}" type="datetime1">
              <a:rPr lang="en-GB" smtClean="0"/>
              <a:t>05/10/2026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CAB10D-D14C-4946-82BB-23DB8C4B1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C49D39-4EF3-0CA8-9227-BC76C8404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DK" smtClean="0"/>
              <a:t>7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1417148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EFEDB-2230-E3DB-6974-0CCEB139D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Design workshop (1): Data Exploration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FB1384-B7EC-1F07-2A70-5686060282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Form </a:t>
            </a:r>
            <a:r>
              <a:rPr lang="da-DK" dirty="0" err="1"/>
              <a:t>groups</a:t>
            </a:r>
            <a:endParaRPr lang="da-DK" dirty="0"/>
          </a:p>
          <a:p>
            <a:r>
              <a:rPr lang="da-DK" dirty="0"/>
              <a:t>Find the data sets given in itslearning</a:t>
            </a:r>
          </a:p>
          <a:p>
            <a:r>
              <a:rPr lang="da-DK" dirty="0" err="1"/>
              <a:t>Explore</a:t>
            </a:r>
            <a:r>
              <a:rPr lang="da-DK" dirty="0"/>
              <a:t> the data, find </a:t>
            </a:r>
          </a:p>
          <a:p>
            <a:pPr lvl="1"/>
            <a:r>
              <a:rPr lang="da-DK" dirty="0"/>
              <a:t>The dataset type</a:t>
            </a:r>
          </a:p>
          <a:p>
            <a:pPr lvl="1"/>
            <a:r>
              <a:rPr lang="da-DK" dirty="0"/>
              <a:t>The data types</a:t>
            </a:r>
          </a:p>
          <a:p>
            <a:pPr lvl="1"/>
            <a:r>
              <a:rPr lang="da-DK" dirty="0"/>
              <a:t>(If </a:t>
            </a:r>
            <a:r>
              <a:rPr lang="da-DK" dirty="0" err="1"/>
              <a:t>applicable</a:t>
            </a:r>
            <a:r>
              <a:rPr lang="da-DK" dirty="0"/>
              <a:t>) The </a:t>
            </a:r>
            <a:r>
              <a:rPr lang="da-DK" dirty="0" err="1"/>
              <a:t>attribute</a:t>
            </a:r>
            <a:r>
              <a:rPr lang="da-DK" dirty="0"/>
              <a:t> types (</a:t>
            </a:r>
            <a:r>
              <a:rPr lang="da-DK" dirty="0" err="1"/>
              <a:t>Including</a:t>
            </a:r>
            <a:r>
              <a:rPr lang="da-DK" dirty="0"/>
              <a:t> </a:t>
            </a:r>
            <a:r>
              <a:rPr lang="da-DK" dirty="0" err="1"/>
              <a:t>keys</a:t>
            </a:r>
            <a:r>
              <a:rPr lang="da-DK" dirty="0"/>
              <a:t> and </a:t>
            </a:r>
            <a:r>
              <a:rPr lang="da-DK" dirty="0" err="1"/>
              <a:t>values</a:t>
            </a:r>
            <a:r>
              <a:rPr lang="da-DK" dirty="0"/>
              <a:t>)</a:t>
            </a:r>
          </a:p>
          <a:p>
            <a:pPr lvl="1"/>
            <a:r>
              <a:rPr lang="da-DK" dirty="0"/>
              <a:t>(If </a:t>
            </a:r>
            <a:r>
              <a:rPr lang="da-DK" dirty="0" err="1"/>
              <a:t>applicable</a:t>
            </a:r>
            <a:r>
              <a:rPr lang="da-DK" dirty="0"/>
              <a:t>) </a:t>
            </a:r>
            <a:r>
              <a:rPr lang="da-DK" dirty="0" err="1"/>
              <a:t>Ordering</a:t>
            </a:r>
            <a:r>
              <a:rPr lang="da-DK" dirty="0"/>
              <a:t> </a:t>
            </a:r>
            <a:r>
              <a:rPr lang="da-DK" dirty="0" err="1"/>
              <a:t>directions</a:t>
            </a:r>
            <a:endParaRPr lang="da-DK" dirty="0"/>
          </a:p>
          <a:p>
            <a:r>
              <a:rPr lang="da-DK" dirty="0" err="1"/>
              <a:t>Compare</a:t>
            </a:r>
            <a:r>
              <a:rPr lang="da-DK" dirty="0"/>
              <a:t> with </a:t>
            </a:r>
            <a:r>
              <a:rPr lang="da-DK" dirty="0" err="1"/>
              <a:t>another</a:t>
            </a:r>
            <a:r>
              <a:rPr lang="da-DK" dirty="0"/>
              <a:t> </a:t>
            </a:r>
            <a:r>
              <a:rPr lang="da-DK" dirty="0" err="1"/>
              <a:t>group</a:t>
            </a:r>
            <a:endParaRPr lang="da-DK" dirty="0"/>
          </a:p>
          <a:p>
            <a:pPr lvl="1"/>
            <a:endParaRPr lang="LID4096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06C444-B23A-BA01-24DD-7A34457EE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8183B9-126C-4932-94BE-502505D2BD01}" type="datetime1">
              <a:rPr lang="en-GB" smtClean="0"/>
              <a:t>05/10/2026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498740-C0F8-0E5D-DFE9-6DCAE24F8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366250-C957-9801-BD4B-DFC69C935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DK" smtClean="0"/>
              <a:t>8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1670437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B7322-DC1D-A162-C626-7D4C5AD2C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Exploratory vs Expository Visualization</a:t>
            </a:r>
            <a:endParaRPr lang="LID4096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C13D913-1BBC-266A-B981-5C781580C9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 err="1"/>
              <a:t>Exploratory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F7EB29-DBDC-DCB1-7595-22D4F4C097D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da-DK" dirty="0"/>
              <a:t>Open-</a:t>
            </a:r>
            <a:r>
              <a:rPr lang="da-DK" dirty="0" err="1"/>
              <a:t>ended</a:t>
            </a:r>
            <a:endParaRPr lang="da-DK" dirty="0"/>
          </a:p>
          <a:p>
            <a:r>
              <a:rPr lang="da-DK" dirty="0" err="1"/>
              <a:t>Facilitates</a:t>
            </a:r>
            <a:r>
              <a:rPr lang="da-DK" dirty="0"/>
              <a:t> the user in </a:t>
            </a:r>
            <a:r>
              <a:rPr lang="da-DK" dirty="0" err="1"/>
              <a:t>drawing</a:t>
            </a:r>
            <a:r>
              <a:rPr lang="da-DK" dirty="0"/>
              <a:t> </a:t>
            </a:r>
            <a:r>
              <a:rPr lang="da-DK" dirty="0" err="1"/>
              <a:t>conclusions</a:t>
            </a:r>
            <a:r>
              <a:rPr lang="da-DK" dirty="0"/>
              <a:t> </a:t>
            </a:r>
            <a:r>
              <a:rPr lang="da-DK" dirty="0" err="1"/>
              <a:t>about</a:t>
            </a:r>
            <a:r>
              <a:rPr lang="da-DK" dirty="0"/>
              <a:t> the data</a:t>
            </a:r>
          </a:p>
          <a:p>
            <a:r>
              <a:rPr lang="da-DK" dirty="0" err="1"/>
              <a:t>Leads</a:t>
            </a:r>
            <a:r>
              <a:rPr lang="da-DK" dirty="0"/>
              <a:t> to </a:t>
            </a:r>
            <a:r>
              <a:rPr lang="da-DK" dirty="0" err="1"/>
              <a:t>further</a:t>
            </a:r>
            <a:r>
              <a:rPr lang="da-DK" dirty="0"/>
              <a:t> </a:t>
            </a:r>
            <a:r>
              <a:rPr lang="da-DK" dirty="0" err="1"/>
              <a:t>questions</a:t>
            </a:r>
            <a:endParaRPr lang="da-DK" dirty="0"/>
          </a:p>
          <a:p>
            <a:r>
              <a:rPr lang="da-DK" dirty="0"/>
              <a:t>Actions: </a:t>
            </a:r>
            <a:r>
              <a:rPr lang="da-DK" dirty="0" err="1"/>
              <a:t>Discover</a:t>
            </a:r>
            <a:r>
              <a:rPr lang="da-DK" dirty="0"/>
              <a:t>, </a:t>
            </a:r>
            <a:r>
              <a:rPr lang="da-DK" dirty="0" err="1"/>
              <a:t>lookup</a:t>
            </a:r>
            <a:r>
              <a:rPr lang="da-DK" dirty="0"/>
              <a:t>, browse, </a:t>
            </a:r>
            <a:r>
              <a:rPr lang="da-DK" dirty="0" err="1"/>
              <a:t>explore</a:t>
            </a:r>
            <a:r>
              <a:rPr lang="da-DK" dirty="0"/>
              <a:t>, </a:t>
            </a:r>
            <a:r>
              <a:rPr lang="da-DK" dirty="0" err="1"/>
              <a:t>compare</a:t>
            </a:r>
            <a:endParaRPr lang="LID4096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6FFC77E-9032-0FAE-2FB6-5825CFA733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a-DK" dirty="0" err="1"/>
              <a:t>Expository</a:t>
            </a:r>
            <a:endParaRPr lang="LID4096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38D5F7E-44E1-40BD-921D-FC3DB2C140E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da-DK" dirty="0" err="1"/>
              <a:t>Closed-ended</a:t>
            </a:r>
            <a:endParaRPr lang="da-DK" dirty="0"/>
          </a:p>
          <a:p>
            <a:r>
              <a:rPr lang="da-DK" dirty="0" err="1"/>
              <a:t>Communicates</a:t>
            </a:r>
            <a:r>
              <a:rPr lang="da-DK" dirty="0"/>
              <a:t> a message </a:t>
            </a:r>
            <a:r>
              <a:rPr lang="da-DK" dirty="0" err="1"/>
              <a:t>about</a:t>
            </a:r>
            <a:r>
              <a:rPr lang="da-DK" dirty="0"/>
              <a:t> the data</a:t>
            </a:r>
          </a:p>
          <a:p>
            <a:r>
              <a:rPr lang="da-DK" dirty="0"/>
              <a:t>Presents </a:t>
            </a:r>
            <a:r>
              <a:rPr lang="da-DK" dirty="0" err="1"/>
              <a:t>evidence</a:t>
            </a:r>
            <a:r>
              <a:rPr lang="da-DK" dirty="0"/>
              <a:t> for a given </a:t>
            </a:r>
            <a:r>
              <a:rPr lang="en-GB" dirty="0"/>
              <a:t>conclusion</a:t>
            </a:r>
          </a:p>
          <a:p>
            <a:r>
              <a:rPr lang="en-GB" dirty="0"/>
              <a:t>Actions: Present, summarize, compare</a:t>
            </a:r>
            <a:endParaRPr lang="LID4096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5615C3-E63F-51CF-ADD0-B7D435A56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8183B9-126C-4932-94BE-502505D2BD01}" type="datetime1">
              <a:rPr lang="en-GB" smtClean="0"/>
              <a:t>05/10/2026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64A9B2-5C3C-D07F-2D60-5C81A4E6D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37259B-65AB-73C7-D517-274E31EE2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DK" smtClean="0"/>
              <a:t>9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2625353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D13F4AC3-EDE8-0614-5FEF-8255F46CD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</a:t>
            </a:r>
            <a:endParaRPr lang="LID4096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73CE3FA-A212-8DBA-F6CA-77F42BD538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Consider the "hipster summer reading" data set</a:t>
            </a:r>
          </a:p>
          <a:p>
            <a:r>
              <a:rPr lang="en-GB" dirty="0"/>
              <a:t>Which of these questions would you classify as exploratory/expository?</a:t>
            </a:r>
          </a:p>
          <a:p>
            <a:pPr lvl="1"/>
            <a:r>
              <a:rPr lang="da-DK" dirty="0"/>
              <a:t>”</a:t>
            </a:r>
            <a:r>
              <a:rPr lang="da-DK" dirty="0" err="1"/>
              <a:t>Which</a:t>
            </a:r>
            <a:r>
              <a:rPr lang="da-DK" dirty="0"/>
              <a:t> </a:t>
            </a:r>
            <a:r>
              <a:rPr lang="da-DK" dirty="0" err="1"/>
              <a:t>books</a:t>
            </a:r>
            <a:r>
              <a:rPr lang="da-DK" dirty="0"/>
              <a:t> </a:t>
            </a:r>
            <a:r>
              <a:rPr lang="da-DK" dirty="0" err="1"/>
              <a:t>are</a:t>
            </a:r>
            <a:r>
              <a:rPr lang="da-DK" dirty="0"/>
              <a:t> the most </a:t>
            </a:r>
            <a:r>
              <a:rPr lang="da-DK" dirty="0" err="1"/>
              <a:t>obscure</a:t>
            </a:r>
            <a:r>
              <a:rPr lang="da-DK" dirty="0"/>
              <a:t> and still </a:t>
            </a:r>
            <a:r>
              <a:rPr lang="da-DK" dirty="0" err="1"/>
              <a:t>highly</a:t>
            </a:r>
            <a:r>
              <a:rPr lang="da-DK" dirty="0"/>
              <a:t> </a:t>
            </a:r>
            <a:r>
              <a:rPr lang="da-DK" dirty="0" err="1"/>
              <a:t>rated</a:t>
            </a:r>
            <a:r>
              <a:rPr lang="da-DK" dirty="0"/>
              <a:t> on </a:t>
            </a:r>
            <a:r>
              <a:rPr lang="da-DK" dirty="0" err="1"/>
              <a:t>Goodreads</a:t>
            </a:r>
            <a:r>
              <a:rPr lang="da-DK" dirty="0"/>
              <a:t>?”</a:t>
            </a:r>
          </a:p>
          <a:p>
            <a:pPr lvl="1"/>
            <a:r>
              <a:rPr lang="da-DK" dirty="0"/>
              <a:t>”</a:t>
            </a:r>
            <a:r>
              <a:rPr lang="da-DK" dirty="0" err="1"/>
              <a:t>Why</a:t>
            </a:r>
            <a:r>
              <a:rPr lang="da-DK" dirty="0"/>
              <a:t> </a:t>
            </a:r>
            <a:r>
              <a:rPr lang="da-DK" dirty="0" err="1"/>
              <a:t>are</a:t>
            </a:r>
            <a:r>
              <a:rPr lang="da-DK" dirty="0"/>
              <a:t> the </a:t>
            </a:r>
            <a:r>
              <a:rPr lang="da-DK" dirty="0" err="1"/>
              <a:t>highly</a:t>
            </a:r>
            <a:r>
              <a:rPr lang="da-DK" dirty="0"/>
              <a:t> </a:t>
            </a:r>
            <a:r>
              <a:rPr lang="da-DK" dirty="0" err="1"/>
              <a:t>rated</a:t>
            </a:r>
            <a:r>
              <a:rPr lang="da-DK" dirty="0"/>
              <a:t> </a:t>
            </a:r>
            <a:r>
              <a:rPr lang="da-DK" dirty="0" err="1"/>
              <a:t>books</a:t>
            </a:r>
            <a:r>
              <a:rPr lang="da-DK" dirty="0"/>
              <a:t> </a:t>
            </a:r>
            <a:r>
              <a:rPr lang="da-DK" dirty="0" err="1"/>
              <a:t>often</a:t>
            </a:r>
            <a:r>
              <a:rPr lang="da-DK" dirty="0"/>
              <a:t> not the </a:t>
            </a:r>
            <a:r>
              <a:rPr lang="da-DK" dirty="0" err="1"/>
              <a:t>ones</a:t>
            </a:r>
            <a:r>
              <a:rPr lang="da-DK" dirty="0"/>
              <a:t> most </a:t>
            </a:r>
            <a:r>
              <a:rPr lang="da-DK" dirty="0" err="1"/>
              <a:t>frequently</a:t>
            </a:r>
            <a:r>
              <a:rPr lang="da-DK" dirty="0"/>
              <a:t> </a:t>
            </a:r>
            <a:r>
              <a:rPr lang="da-DK" dirty="0" err="1"/>
              <a:t>borrowed</a:t>
            </a:r>
            <a:r>
              <a:rPr lang="da-DK" dirty="0"/>
              <a:t>?”</a:t>
            </a:r>
          </a:p>
          <a:p>
            <a:pPr lvl="1"/>
            <a:r>
              <a:rPr lang="da-DK" dirty="0"/>
              <a:t>”How </a:t>
            </a:r>
            <a:r>
              <a:rPr lang="da-DK" dirty="0" err="1"/>
              <a:t>does</a:t>
            </a:r>
            <a:r>
              <a:rPr lang="da-DK" dirty="0"/>
              <a:t> the </a:t>
            </a:r>
            <a:r>
              <a:rPr lang="da-DK" dirty="0" err="1"/>
              <a:t>number</a:t>
            </a:r>
            <a:r>
              <a:rPr lang="da-DK" dirty="0"/>
              <a:t> of </a:t>
            </a:r>
            <a:r>
              <a:rPr lang="da-DK" dirty="0" err="1"/>
              <a:t>borrows</a:t>
            </a:r>
            <a:r>
              <a:rPr lang="da-DK" dirty="0"/>
              <a:t> </a:t>
            </a:r>
            <a:r>
              <a:rPr lang="da-DK" dirty="0" err="1"/>
              <a:t>relate</a:t>
            </a:r>
            <a:r>
              <a:rPr lang="da-DK" dirty="0"/>
              <a:t> to a </a:t>
            </a:r>
            <a:r>
              <a:rPr lang="da-DK" dirty="0" err="1"/>
              <a:t>book’s</a:t>
            </a:r>
            <a:r>
              <a:rPr lang="da-DK" dirty="0"/>
              <a:t> </a:t>
            </a:r>
            <a:r>
              <a:rPr lang="da-DK" dirty="0" err="1"/>
              <a:t>Goodreads</a:t>
            </a:r>
            <a:r>
              <a:rPr lang="da-DK" dirty="0"/>
              <a:t> score?”</a:t>
            </a:r>
          </a:p>
          <a:p>
            <a:endParaRPr lang="LID4096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C99B26-72AF-77E5-6C35-9C21A3749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8F46DC4-28AD-4138-B93F-56B62008EDF1}" type="datetime1">
              <a:rPr lang="en-GB" smtClean="0"/>
              <a:t>05/10/2026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3EF00B-6C4C-BFD9-39E6-793C880F0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0BE49A-55F7-66AB-DBFF-225568CF7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DK" smtClean="0"/>
              <a:t>10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316539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FE25A-BEF4-5C9A-AB7A-1C055A346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Asking Questions about the data</a:t>
            </a:r>
            <a:endParaRPr lang="LID4096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50B010E-8A5F-EE46-B063-F604C7BCACF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Jumping straight from data to visualization misses</a:t>
            </a:r>
          </a:p>
          <a:p>
            <a:pPr lvl="1"/>
            <a:r>
              <a:rPr lang="en-GB" dirty="0"/>
              <a:t>The point of the visualization</a:t>
            </a:r>
          </a:p>
          <a:p>
            <a:pPr lvl="1"/>
            <a:r>
              <a:rPr lang="en-GB" dirty="0"/>
              <a:t>Many ideas that could have been explored</a:t>
            </a:r>
          </a:p>
          <a:p>
            <a:r>
              <a:rPr lang="en-GB" dirty="0"/>
              <a:t>Try finding the questions that could be answered using a visualization</a:t>
            </a:r>
            <a:endParaRPr lang="LID4096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C316336-E9B9-6016-836C-24EA3651D3A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Good keywords to lead to questions:</a:t>
            </a:r>
          </a:p>
          <a:p>
            <a:pPr lvl="1"/>
            <a:r>
              <a:rPr lang="da-DK" dirty="0" err="1"/>
              <a:t>Comparison</a:t>
            </a:r>
            <a:endParaRPr lang="da-DK" dirty="0"/>
          </a:p>
          <a:p>
            <a:pPr lvl="1"/>
            <a:r>
              <a:rPr lang="da-DK" dirty="0"/>
              <a:t>Distribution</a:t>
            </a:r>
          </a:p>
          <a:p>
            <a:pPr lvl="1"/>
            <a:r>
              <a:rPr lang="da-DK" dirty="0" err="1"/>
              <a:t>Composition</a:t>
            </a:r>
            <a:endParaRPr lang="da-DK" dirty="0"/>
          </a:p>
          <a:p>
            <a:pPr lvl="1"/>
            <a:r>
              <a:rPr lang="da-DK" dirty="0"/>
              <a:t>Trend</a:t>
            </a:r>
          </a:p>
          <a:p>
            <a:pPr lvl="1"/>
            <a:r>
              <a:rPr lang="da-DK" dirty="0" err="1"/>
              <a:t>Relationship</a:t>
            </a:r>
            <a:endParaRPr lang="da-DK" dirty="0"/>
          </a:p>
          <a:p>
            <a:pPr lvl="1"/>
            <a:r>
              <a:rPr lang="da-DK" dirty="0"/>
              <a:t>Ranking</a:t>
            </a:r>
          </a:p>
          <a:p>
            <a:pPr lvl="1"/>
            <a:r>
              <a:rPr lang="da-DK" dirty="0"/>
              <a:t>Change</a:t>
            </a:r>
          </a:p>
          <a:p>
            <a:pPr lvl="1"/>
            <a:r>
              <a:rPr lang="da-DK" dirty="0" err="1"/>
              <a:t>Outliers</a:t>
            </a:r>
            <a:endParaRPr lang="da-DK" dirty="0"/>
          </a:p>
          <a:p>
            <a:pPr lvl="1"/>
            <a:r>
              <a:rPr lang="da-DK" dirty="0"/>
              <a:t>Clusters</a:t>
            </a:r>
          </a:p>
          <a:p>
            <a:endParaRPr lang="LID4096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3F9EFA-33CA-0978-2D49-DB3A54B88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8183B9-126C-4932-94BE-502505D2BD01}" type="datetime1">
              <a:rPr lang="en-GB" smtClean="0"/>
              <a:t>05/10/2026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FE5ED-26AD-2CF4-FCB0-573A45AA6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685C7F-ED41-A5D1-1F4F-88CC3C93E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DK" smtClean="0"/>
              <a:t>11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884100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5AD839D-5E74-FE28-224B-06F2C893E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Design workshop (2): Generate Questions</a:t>
            </a:r>
            <a:endParaRPr lang="LID4096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DBD7C7D-6A28-6FB2-61A5-426547C867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Each groups picks 1 of the 3 datasets</a:t>
            </a:r>
          </a:p>
          <a:p>
            <a:r>
              <a:rPr lang="en-GB" dirty="0"/>
              <a:t>Generate as many exploratory questions as you can</a:t>
            </a:r>
          </a:p>
          <a:p>
            <a:pPr lvl="1"/>
            <a:r>
              <a:rPr lang="en-GB" dirty="0"/>
              <a:t>It should be possible to generate 15 questions</a:t>
            </a:r>
          </a:p>
          <a:p>
            <a:r>
              <a:rPr lang="en-GB" dirty="0"/>
              <a:t>Groups that chose the same data set compares and discusses</a:t>
            </a:r>
            <a:endParaRPr lang="LID4096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ABB502-6945-3FF9-FBC1-A61A07F24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B7FFBE2-17ED-4487-A6AD-53E5CC708D51}" type="datetime1">
              <a:rPr lang="en-GB" smtClean="0"/>
              <a:t>05/10/2026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591B2D-34E3-BD4D-6AB5-70BB4B35B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86EDF4-170E-D496-FD19-A7571B4E4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DK" smtClean="0"/>
              <a:t>12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37375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B536B-267B-AD7C-FB7A-4F56B806C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From Questions to Tasks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F2B22D-9FB0-27B7-46BA-5729132CEA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Questions are dependent on</a:t>
            </a:r>
          </a:p>
          <a:p>
            <a:pPr lvl="1"/>
            <a:r>
              <a:rPr lang="en-GB" dirty="0"/>
              <a:t>Domain</a:t>
            </a:r>
          </a:p>
          <a:p>
            <a:pPr lvl="1"/>
            <a:r>
              <a:rPr lang="en-GB" dirty="0"/>
              <a:t>Forms of expression</a:t>
            </a:r>
          </a:p>
          <a:p>
            <a:pPr lvl="1"/>
            <a:r>
              <a:rPr lang="en-GB" dirty="0"/>
              <a:t>Concrete data</a:t>
            </a:r>
          </a:p>
          <a:p>
            <a:r>
              <a:rPr lang="en-GB" dirty="0"/>
              <a:t>Tasks are generic forms that we can work with</a:t>
            </a:r>
          </a:p>
          <a:p>
            <a:r>
              <a:rPr lang="en-GB" dirty="0"/>
              <a:t>Example:</a:t>
            </a:r>
          </a:p>
          <a:p>
            <a:pPr lvl="1"/>
            <a:r>
              <a:rPr lang="da-DK" dirty="0" err="1"/>
              <a:t>Which</a:t>
            </a:r>
            <a:r>
              <a:rPr lang="da-DK" dirty="0"/>
              <a:t> </a:t>
            </a:r>
            <a:r>
              <a:rPr lang="da-DK" dirty="0" err="1"/>
              <a:t>music</a:t>
            </a:r>
            <a:r>
              <a:rPr lang="da-DK" dirty="0"/>
              <a:t> format generates the most </a:t>
            </a:r>
            <a:r>
              <a:rPr lang="da-DK" dirty="0" err="1"/>
              <a:t>revenue</a:t>
            </a:r>
            <a:r>
              <a:rPr lang="da-DK" dirty="0"/>
              <a:t>?</a:t>
            </a:r>
          </a:p>
          <a:p>
            <a:pPr lvl="1"/>
            <a:r>
              <a:rPr lang="da-DK" dirty="0" err="1"/>
              <a:t>What</a:t>
            </a:r>
            <a:r>
              <a:rPr lang="da-DK" dirty="0"/>
              <a:t> </a:t>
            </a:r>
            <a:r>
              <a:rPr lang="da-DK" dirty="0" err="1"/>
              <a:t>books</a:t>
            </a:r>
            <a:r>
              <a:rPr lang="da-DK" dirty="0"/>
              <a:t> </a:t>
            </a:r>
            <a:r>
              <a:rPr lang="da-DK" dirty="0" err="1"/>
              <a:t>are</a:t>
            </a:r>
            <a:r>
              <a:rPr lang="da-DK" dirty="0"/>
              <a:t> </a:t>
            </a:r>
            <a:r>
              <a:rPr lang="da-DK" dirty="0" err="1"/>
              <a:t>borrowed</a:t>
            </a:r>
            <a:r>
              <a:rPr lang="da-DK" dirty="0"/>
              <a:t> the most?</a:t>
            </a:r>
          </a:p>
          <a:p>
            <a:pPr lvl="1"/>
            <a:r>
              <a:rPr lang="da-DK" dirty="0" err="1"/>
              <a:t>Which</a:t>
            </a:r>
            <a:r>
              <a:rPr lang="da-DK" dirty="0"/>
              <a:t> country has the </a:t>
            </a:r>
            <a:r>
              <a:rPr lang="da-DK" dirty="0" err="1"/>
              <a:t>largest</a:t>
            </a:r>
            <a:r>
              <a:rPr lang="da-DK" dirty="0"/>
              <a:t> CO2-footprint?</a:t>
            </a:r>
          </a:p>
          <a:p>
            <a:r>
              <a:rPr lang="en-GB" dirty="0"/>
              <a:t>Are examples of the task</a:t>
            </a:r>
          </a:p>
          <a:p>
            <a:pPr lvl="1"/>
            <a:r>
              <a:rPr lang="en-GB" dirty="0"/>
              <a:t>Compare features</a:t>
            </a:r>
            <a:endParaRPr lang="LID4096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B91BE-BE6A-8D58-2BB6-256EDD215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8183B9-126C-4932-94BE-502505D2BD01}" type="datetime1">
              <a:rPr lang="en-GB" smtClean="0"/>
              <a:t>05/10/2026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4E7D1F-21A5-303D-693A-EB53A36DC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1C0DF-002E-6C6A-C869-CCFF9DC7D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DK" smtClean="0"/>
              <a:t>13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4108020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33F3A-3AEF-0A45-1697-032A39DBD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Actions and Targets</a:t>
            </a:r>
            <a:endParaRPr lang="LID4096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5856614-8DE5-70D4-FF37-5BE3E48950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3402685" y="1825625"/>
            <a:ext cx="5386629" cy="435133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0A7CC1-2C23-ADD0-F372-24640857D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8183B9-126C-4932-94BE-502505D2BD01}" type="datetime1">
              <a:rPr lang="en-GB" smtClean="0"/>
              <a:t>05/10/2026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E8611A-BCC3-66F2-5B85-0DA8B8629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F452D5-4FBA-2D69-87E7-4FDDC3269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DK" smtClean="0"/>
              <a:t>14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909162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1AFD2-2518-3254-3EBD-FFBB6881D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Visualizations for Search Tasks</a:t>
            </a:r>
            <a:endParaRPr lang="LID4096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BEE9C3-95FA-C880-FE6E-AAFE50BD0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8183B9-126C-4932-94BE-502505D2BD01}" type="datetime1">
              <a:rPr lang="en-GB" smtClean="0"/>
              <a:t>05/10/2026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18CC37-1865-7822-5ABB-6C790B3E8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4EE04D-CFA7-CE16-F0DB-9C9648A60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DK" smtClean="0"/>
              <a:t>15</a:t>
            </a:fld>
            <a:endParaRPr lang="en-DK"/>
          </a:p>
        </p:txBody>
      </p:sp>
      <p:graphicFrame>
        <p:nvGraphicFramePr>
          <p:cNvPr id="10" name="Tabel 7">
            <a:extLst>
              <a:ext uri="{FF2B5EF4-FFF2-40B4-BE49-F238E27FC236}">
                <a16:creationId xmlns:a16="http://schemas.microsoft.com/office/drawing/2014/main" id="{CEDEAE8D-3F3B-191E-CC0F-629F8F9FE5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5135991"/>
              </p:ext>
            </p:extLst>
          </p:nvPr>
        </p:nvGraphicFramePr>
        <p:xfrm>
          <a:off x="838200" y="1825625"/>
          <a:ext cx="10515597" cy="4445173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92686">
                  <a:extLst>
                    <a:ext uri="{9D8B030D-6E8A-4147-A177-3AD203B41FA5}">
                      <a16:colId xmlns:a16="http://schemas.microsoft.com/office/drawing/2014/main" val="184455103"/>
                    </a:ext>
                  </a:extLst>
                </a:gridCol>
                <a:gridCol w="2754968">
                  <a:extLst>
                    <a:ext uri="{9D8B030D-6E8A-4147-A177-3AD203B41FA5}">
                      <a16:colId xmlns:a16="http://schemas.microsoft.com/office/drawing/2014/main" val="3987451144"/>
                    </a:ext>
                  </a:extLst>
                </a:gridCol>
                <a:gridCol w="2839515">
                  <a:extLst>
                    <a:ext uri="{9D8B030D-6E8A-4147-A177-3AD203B41FA5}">
                      <a16:colId xmlns:a16="http://schemas.microsoft.com/office/drawing/2014/main" val="1920281262"/>
                    </a:ext>
                  </a:extLst>
                </a:gridCol>
                <a:gridCol w="2828428">
                  <a:extLst>
                    <a:ext uri="{9D8B030D-6E8A-4147-A177-3AD203B41FA5}">
                      <a16:colId xmlns:a16="http://schemas.microsoft.com/office/drawing/2014/main" val="2011599009"/>
                    </a:ext>
                  </a:extLst>
                </a:gridCol>
              </a:tblGrid>
              <a:tr h="607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300" b="1" cap="none" spc="0">
                          <a:solidFill>
                            <a:schemeClr val="tx1"/>
                          </a:solidFill>
                        </a:rPr>
                        <a:t>Task</a:t>
                      </a:r>
                      <a:endParaRPr lang="da-DK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11846" marR="63580" marT="86036" marB="860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300" b="1" cap="none" spc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da-DK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11846" marR="63580" marT="86036" marB="860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300" b="1" cap="none" spc="0" dirty="0">
                          <a:solidFill>
                            <a:schemeClr val="tx1"/>
                          </a:solidFill>
                        </a:rPr>
                        <a:t>Hipster Books </a:t>
                      </a:r>
                      <a:r>
                        <a:rPr lang="da-DK" sz="1300" b="1" cap="none" spc="0" dirty="0" err="1">
                          <a:solidFill>
                            <a:schemeClr val="tx1"/>
                          </a:solidFill>
                        </a:rPr>
                        <a:t>example</a:t>
                      </a:r>
                      <a:endParaRPr lang="da-DK" sz="13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11846" marR="63580" marT="86036" marB="860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300" b="1" cap="none" spc="0">
                          <a:solidFill>
                            <a:schemeClr val="tx1"/>
                          </a:solidFill>
                        </a:rPr>
                        <a:t>Possible visualization(s)</a:t>
                      </a:r>
                      <a:endParaRPr lang="da-DK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11846" marR="63580" marT="86036" marB="86036" anchor="ctr"/>
                </a:tc>
                <a:extLst>
                  <a:ext uri="{0D108BD9-81ED-4DB2-BD59-A6C34878D82A}">
                    <a16:rowId xmlns:a16="http://schemas.microsoft.com/office/drawing/2014/main" val="740958593"/>
                  </a:ext>
                </a:extLst>
              </a:tr>
              <a:tr h="8087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300" b="1" cap="none" spc="0" dirty="0" err="1">
                          <a:solidFill>
                            <a:schemeClr val="tx1"/>
                          </a:solidFill>
                        </a:rPr>
                        <a:t>Lookup</a:t>
                      </a:r>
                      <a:endParaRPr lang="da-DK" sz="13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11846" marR="63580" marT="86036" marB="860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300" cap="none" spc="0">
                          <a:solidFill>
                            <a:schemeClr val="tx1"/>
                          </a:solidFill>
                        </a:rPr>
                        <a:t>Find the value of a specific item that is already known.</a:t>
                      </a:r>
                    </a:p>
                  </a:txBody>
                  <a:tcPr marL="111846" marR="63580" marT="86036" marB="860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300" cap="none" spc="0" dirty="0" err="1">
                          <a:solidFill>
                            <a:schemeClr val="tx1"/>
                          </a:solidFill>
                        </a:rPr>
                        <a:t>What</a:t>
                      </a:r>
                      <a:r>
                        <a:rPr lang="da-DK" sz="1300" cap="none" spc="0" dirty="0">
                          <a:solidFill>
                            <a:schemeClr val="tx1"/>
                          </a:solidFill>
                        </a:rPr>
                        <a:t> is the average rating of </a:t>
                      </a:r>
                      <a:r>
                        <a:rPr lang="da-DK" sz="1300" b="1" cap="none" spc="0" dirty="0">
                          <a:solidFill>
                            <a:schemeClr val="tx1"/>
                          </a:solidFill>
                        </a:rPr>
                        <a:t>The </a:t>
                      </a:r>
                      <a:r>
                        <a:rPr lang="da-DK" sz="1300" b="1" cap="none" spc="0" dirty="0" err="1">
                          <a:solidFill>
                            <a:schemeClr val="tx1"/>
                          </a:solidFill>
                        </a:rPr>
                        <a:t>Goldfinch</a:t>
                      </a:r>
                      <a:r>
                        <a:rPr lang="da-DK" sz="1300" cap="none" spc="0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 marL="111846" marR="63580" marT="86036" marB="860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300" cap="none" spc="0" dirty="0" err="1">
                          <a:solidFill>
                            <a:schemeClr val="tx1"/>
                          </a:solidFill>
                        </a:rPr>
                        <a:t>Table</a:t>
                      </a:r>
                      <a:r>
                        <a:rPr lang="da-DK" sz="1300" cap="none" spc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da-DK" sz="1300" cap="none" spc="0" dirty="0" err="1">
                          <a:solidFill>
                            <a:schemeClr val="tx1"/>
                          </a:solidFill>
                        </a:rPr>
                        <a:t>tooltip</a:t>
                      </a:r>
                      <a:r>
                        <a:rPr lang="da-DK" sz="1300" cap="none" spc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da-DK" sz="1300" cap="none" spc="0" dirty="0" err="1">
                          <a:solidFill>
                            <a:schemeClr val="tx1"/>
                          </a:solidFill>
                        </a:rPr>
                        <a:t>annotated</a:t>
                      </a:r>
                      <a:r>
                        <a:rPr lang="da-DK" sz="1300" cap="none" spc="0" dirty="0">
                          <a:solidFill>
                            <a:schemeClr val="tx1"/>
                          </a:solidFill>
                        </a:rPr>
                        <a:t> bar </a:t>
                      </a:r>
                      <a:r>
                        <a:rPr lang="da-DK" sz="1300" cap="none" spc="0" dirty="0" err="1">
                          <a:solidFill>
                            <a:schemeClr val="tx1"/>
                          </a:solidFill>
                        </a:rPr>
                        <a:t>chart</a:t>
                      </a:r>
                      <a:endParaRPr lang="da-DK" sz="13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11846" marR="63580" marT="86036" marB="86036" anchor="ctr"/>
                </a:tc>
                <a:extLst>
                  <a:ext uri="{0D108BD9-81ED-4DB2-BD59-A6C34878D82A}">
                    <a16:rowId xmlns:a16="http://schemas.microsoft.com/office/drawing/2014/main" val="1616376614"/>
                  </a:ext>
                </a:extLst>
              </a:tr>
              <a:tr h="8087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300" b="1" cap="none" spc="0">
                          <a:solidFill>
                            <a:schemeClr val="tx1"/>
                          </a:solidFill>
                        </a:rPr>
                        <a:t>Locate</a:t>
                      </a:r>
                      <a:endParaRPr lang="da-DK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11846" marR="63580" marT="86036" marB="860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300" cap="none" spc="0">
                          <a:solidFill>
                            <a:schemeClr val="tx1"/>
                          </a:solidFill>
                        </a:rPr>
                        <a:t>Find one or more items satisfying known criteria.</a:t>
                      </a:r>
                    </a:p>
                  </a:txBody>
                  <a:tcPr marL="111846" marR="63580" marT="86036" marB="860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300" cap="none" spc="0">
                          <a:solidFill>
                            <a:schemeClr val="tx1"/>
                          </a:solidFill>
                        </a:rPr>
                        <a:t>Find books with a rating above </a:t>
                      </a:r>
                      <a:r>
                        <a:rPr lang="da-DK" sz="1300" b="1" cap="none" spc="0">
                          <a:solidFill>
                            <a:schemeClr val="tx1"/>
                          </a:solidFill>
                        </a:rPr>
                        <a:t>4.5</a:t>
                      </a:r>
                      <a:r>
                        <a:rPr lang="da-DK" sz="1300" cap="none" spc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 marL="111846" marR="63580" marT="86036" marB="860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300" cap="none" spc="0">
                          <a:solidFill>
                            <a:schemeClr val="tx1"/>
                          </a:solidFill>
                        </a:rPr>
                        <a:t>Scatter plot, sortable table, filtered bar chart</a:t>
                      </a:r>
                    </a:p>
                  </a:txBody>
                  <a:tcPr marL="111846" marR="63580" marT="86036" marB="86036" anchor="ctr"/>
                </a:tc>
                <a:extLst>
                  <a:ext uri="{0D108BD9-81ED-4DB2-BD59-A6C34878D82A}">
                    <a16:rowId xmlns:a16="http://schemas.microsoft.com/office/drawing/2014/main" val="3992071331"/>
                  </a:ext>
                </a:extLst>
              </a:tr>
              <a:tr h="10094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300" b="1" cap="none" spc="0">
                          <a:solidFill>
                            <a:schemeClr val="tx1"/>
                          </a:solidFill>
                        </a:rPr>
                        <a:t>Browse</a:t>
                      </a:r>
                      <a:endParaRPr lang="da-DK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11846" marR="63580" marT="86036" marB="860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300" cap="none" spc="0" dirty="0" err="1">
                          <a:solidFill>
                            <a:schemeClr val="tx1"/>
                          </a:solidFill>
                        </a:rPr>
                        <a:t>Examine</a:t>
                      </a:r>
                      <a:r>
                        <a:rPr lang="da-DK" sz="1300" cap="none" spc="0" dirty="0">
                          <a:solidFill>
                            <a:schemeClr val="tx1"/>
                          </a:solidFill>
                        </a:rPr>
                        <a:t> a </a:t>
                      </a:r>
                      <a:r>
                        <a:rPr lang="da-DK" sz="1300" cap="none" spc="0" dirty="0" err="1">
                          <a:solidFill>
                            <a:schemeClr val="tx1"/>
                          </a:solidFill>
                        </a:rPr>
                        <a:t>subset</a:t>
                      </a:r>
                      <a:r>
                        <a:rPr lang="da-DK" sz="1300" cap="none" spc="0" dirty="0">
                          <a:solidFill>
                            <a:schemeClr val="tx1"/>
                          </a:solidFill>
                        </a:rPr>
                        <a:t> of the data </a:t>
                      </a:r>
                      <a:r>
                        <a:rPr lang="da-DK" sz="1300" cap="none" spc="0" dirty="0" err="1">
                          <a:solidFill>
                            <a:schemeClr val="tx1"/>
                          </a:solidFill>
                        </a:rPr>
                        <a:t>without</a:t>
                      </a:r>
                      <a:r>
                        <a:rPr lang="da-DK" sz="1300" cap="none" spc="0" dirty="0">
                          <a:solidFill>
                            <a:schemeClr val="tx1"/>
                          </a:solidFill>
                        </a:rPr>
                        <a:t> knowing the </a:t>
                      </a:r>
                      <a:r>
                        <a:rPr lang="da-DK" sz="1300" cap="none" spc="0" dirty="0" err="1">
                          <a:solidFill>
                            <a:schemeClr val="tx1"/>
                          </a:solidFill>
                        </a:rPr>
                        <a:t>exact</a:t>
                      </a:r>
                      <a:r>
                        <a:rPr lang="da-DK" sz="1300" cap="none" spc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a-DK" sz="1300" cap="none" spc="0" dirty="0" err="1">
                          <a:solidFill>
                            <a:schemeClr val="tx1"/>
                          </a:solidFill>
                        </a:rPr>
                        <a:t>target</a:t>
                      </a:r>
                      <a:r>
                        <a:rPr lang="da-DK" sz="1300" cap="none" spc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 marL="111846" marR="63580" marT="86036" marB="860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300" cap="none" spc="0" dirty="0">
                          <a:solidFill>
                            <a:schemeClr val="tx1"/>
                          </a:solidFill>
                        </a:rPr>
                        <a:t>Browse all Fantasy </a:t>
                      </a:r>
                      <a:r>
                        <a:rPr lang="da-DK" sz="1300" cap="none" spc="0" dirty="0" err="1">
                          <a:solidFill>
                            <a:schemeClr val="tx1"/>
                          </a:solidFill>
                        </a:rPr>
                        <a:t>books</a:t>
                      </a:r>
                      <a:r>
                        <a:rPr lang="da-DK" sz="1300" cap="none" spc="0" dirty="0">
                          <a:solidFill>
                            <a:schemeClr val="tx1"/>
                          </a:solidFill>
                        </a:rPr>
                        <a:t> to </a:t>
                      </a:r>
                      <a:r>
                        <a:rPr lang="da-DK" sz="1300" cap="none" spc="0" dirty="0" err="1">
                          <a:solidFill>
                            <a:schemeClr val="tx1"/>
                          </a:solidFill>
                        </a:rPr>
                        <a:t>see</a:t>
                      </a:r>
                      <a:r>
                        <a:rPr lang="da-DK" sz="1300" cap="none" spc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a-DK" sz="1300" cap="none" spc="0" dirty="0" err="1">
                          <a:solidFill>
                            <a:schemeClr val="tx1"/>
                          </a:solidFill>
                        </a:rPr>
                        <a:t>if</a:t>
                      </a:r>
                      <a:r>
                        <a:rPr lang="da-DK" sz="1300" cap="none" spc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a-DK" sz="1300" cap="none" spc="0" dirty="0" err="1">
                          <a:solidFill>
                            <a:schemeClr val="tx1"/>
                          </a:solidFill>
                        </a:rPr>
                        <a:t>anything</a:t>
                      </a:r>
                      <a:r>
                        <a:rPr lang="da-DK" sz="1300" cap="none" spc="0" dirty="0">
                          <a:solidFill>
                            <a:schemeClr val="tx1"/>
                          </a:solidFill>
                        </a:rPr>
                        <a:t> stands out.</a:t>
                      </a:r>
                    </a:p>
                  </a:txBody>
                  <a:tcPr marL="111846" marR="63580" marT="86036" marB="860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300" cap="none" spc="0" dirty="0">
                          <a:solidFill>
                            <a:schemeClr val="tx1"/>
                          </a:solidFill>
                        </a:rPr>
                        <a:t>Interactive </a:t>
                      </a:r>
                      <a:r>
                        <a:rPr lang="da-DK" sz="1300" cap="none" spc="0" dirty="0" err="1">
                          <a:solidFill>
                            <a:schemeClr val="tx1"/>
                          </a:solidFill>
                        </a:rPr>
                        <a:t>table</a:t>
                      </a:r>
                      <a:r>
                        <a:rPr lang="da-DK" sz="1300" cap="none" spc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da-DK" sz="1300" cap="none" spc="0" dirty="0" err="1">
                          <a:solidFill>
                            <a:schemeClr val="tx1"/>
                          </a:solidFill>
                        </a:rPr>
                        <a:t>treemap</a:t>
                      </a:r>
                      <a:r>
                        <a:rPr lang="da-DK" sz="1300" cap="none" spc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da-DK" sz="1300" cap="none" spc="0" dirty="0" err="1">
                          <a:solidFill>
                            <a:schemeClr val="tx1"/>
                          </a:solidFill>
                        </a:rPr>
                        <a:t>sortable</a:t>
                      </a:r>
                      <a:r>
                        <a:rPr lang="da-DK" sz="1300" cap="none" spc="0" dirty="0">
                          <a:solidFill>
                            <a:schemeClr val="tx1"/>
                          </a:solidFill>
                        </a:rPr>
                        <a:t> bar </a:t>
                      </a:r>
                      <a:r>
                        <a:rPr lang="da-DK" sz="1300" cap="none" spc="0" dirty="0" err="1">
                          <a:solidFill>
                            <a:schemeClr val="tx1"/>
                          </a:solidFill>
                        </a:rPr>
                        <a:t>chart</a:t>
                      </a:r>
                      <a:endParaRPr lang="da-DK" sz="13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11846" marR="63580" marT="86036" marB="86036" anchor="ctr"/>
                </a:tc>
                <a:extLst>
                  <a:ext uri="{0D108BD9-81ED-4DB2-BD59-A6C34878D82A}">
                    <a16:rowId xmlns:a16="http://schemas.microsoft.com/office/drawing/2014/main" val="1044887401"/>
                  </a:ext>
                </a:extLst>
              </a:tr>
              <a:tr h="12102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300" b="1" cap="none" spc="0">
                          <a:solidFill>
                            <a:schemeClr val="tx1"/>
                          </a:solidFill>
                        </a:rPr>
                        <a:t>Explore</a:t>
                      </a:r>
                      <a:endParaRPr lang="da-DK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11846" marR="63580" marT="86036" marB="860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300" cap="none" spc="0">
                          <a:solidFill>
                            <a:schemeClr val="tx1"/>
                          </a:solidFill>
                        </a:rPr>
                        <a:t>Search the dataset openly to discover interesting patterns or hypotheses.</a:t>
                      </a:r>
                    </a:p>
                  </a:txBody>
                  <a:tcPr marL="111846" marR="63580" marT="86036" marB="860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300" cap="none" spc="0">
                          <a:solidFill>
                            <a:schemeClr val="tx1"/>
                          </a:solidFill>
                        </a:rPr>
                        <a:t>Is there an interesting relationship between book length, ratings, and borrow count?</a:t>
                      </a:r>
                    </a:p>
                  </a:txBody>
                  <a:tcPr marL="111846" marR="63580" marT="86036" marB="860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300" cap="none" spc="0" dirty="0" err="1">
                          <a:solidFill>
                            <a:schemeClr val="tx1"/>
                          </a:solidFill>
                        </a:rPr>
                        <a:t>Scatter</a:t>
                      </a:r>
                      <a:r>
                        <a:rPr lang="da-DK" sz="1300" cap="none" spc="0" dirty="0">
                          <a:solidFill>
                            <a:schemeClr val="tx1"/>
                          </a:solidFill>
                        </a:rPr>
                        <a:t> plot, </a:t>
                      </a:r>
                      <a:r>
                        <a:rPr lang="da-DK" sz="1300" cap="none" spc="0" dirty="0" err="1">
                          <a:solidFill>
                            <a:schemeClr val="tx1"/>
                          </a:solidFill>
                        </a:rPr>
                        <a:t>dashboard</a:t>
                      </a:r>
                      <a:endParaRPr lang="da-DK" sz="13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11846" marR="63580" marT="86036" marB="86036" anchor="ctr"/>
                </a:tc>
                <a:extLst>
                  <a:ext uri="{0D108BD9-81ED-4DB2-BD59-A6C34878D82A}">
                    <a16:rowId xmlns:a16="http://schemas.microsoft.com/office/drawing/2014/main" val="14939122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47457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0A2C1-236C-5297-A760-C11F0F61E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Visualizations for Query Tasks</a:t>
            </a:r>
            <a:endParaRPr lang="LID4096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C8F76C-20E7-97EC-3DEB-C3A96E0E0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8183B9-126C-4932-94BE-502505D2BD01}" type="datetime1">
              <a:rPr lang="en-GB" smtClean="0"/>
              <a:t>05/10/2026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9B2568-41DB-78CC-A1E1-306756B40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B2D3B8-03D6-8C0A-7A9F-6534C0624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DK" smtClean="0"/>
              <a:t>16</a:t>
            </a:fld>
            <a:endParaRPr lang="en-DK"/>
          </a:p>
        </p:txBody>
      </p:sp>
      <p:graphicFrame>
        <p:nvGraphicFramePr>
          <p:cNvPr id="8" name="Tabel 10">
            <a:extLst>
              <a:ext uri="{FF2B5EF4-FFF2-40B4-BE49-F238E27FC236}">
                <a16:creationId xmlns:a16="http://schemas.microsoft.com/office/drawing/2014/main" id="{CAD141B2-0959-BE95-8F9C-723DDE446F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7183152"/>
              </p:ext>
            </p:extLst>
          </p:nvPr>
        </p:nvGraphicFramePr>
        <p:xfrm>
          <a:off x="838200" y="1825625"/>
          <a:ext cx="10515600" cy="329272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416878109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96227196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40425602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599656094"/>
                    </a:ext>
                  </a:extLst>
                </a:gridCol>
              </a:tblGrid>
              <a:tr h="6229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300" b="1"/>
                        <a:t>Task</a:t>
                      </a:r>
                      <a:endParaRPr lang="da-DK" sz="13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300" b="1"/>
                        <a:t>Description</a:t>
                      </a:r>
                      <a:endParaRPr lang="da-DK" sz="13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300" b="1"/>
                        <a:t>Hipster Books example</a:t>
                      </a:r>
                      <a:endParaRPr lang="da-DK" sz="13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300" b="1"/>
                        <a:t>Possible visualization(s)</a:t>
                      </a:r>
                      <a:endParaRPr lang="da-DK" sz="13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14242"/>
                  </a:ext>
                </a:extLst>
              </a:tr>
              <a:tr h="8899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300" b="1"/>
                        <a:t>Identify</a:t>
                      </a:r>
                      <a:endParaRPr lang="da-DK" sz="13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300" dirty="0" err="1"/>
                        <a:t>Determine</a:t>
                      </a:r>
                      <a:r>
                        <a:rPr lang="da-DK" sz="1300" dirty="0"/>
                        <a:t> properties or </a:t>
                      </a:r>
                      <a:r>
                        <a:rPr lang="da-DK" sz="1300" dirty="0" err="1"/>
                        <a:t>membership</a:t>
                      </a:r>
                      <a:r>
                        <a:rPr lang="da-DK" sz="1300" dirty="0"/>
                        <a:t> of an item.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300" dirty="0" err="1"/>
                        <a:t>Which</a:t>
                      </a:r>
                      <a:r>
                        <a:rPr lang="da-DK" sz="1300" dirty="0"/>
                        <a:t> </a:t>
                      </a:r>
                      <a:r>
                        <a:rPr lang="da-DK" sz="1300" dirty="0" err="1"/>
                        <a:t>books</a:t>
                      </a:r>
                      <a:r>
                        <a:rPr lang="da-DK" sz="1300" dirty="0"/>
                        <a:t> </a:t>
                      </a:r>
                      <a:r>
                        <a:rPr lang="da-DK" sz="1300" dirty="0" err="1"/>
                        <a:t>belong</a:t>
                      </a:r>
                      <a:r>
                        <a:rPr lang="da-DK" sz="1300" dirty="0"/>
                        <a:t> to the Science Fiction genre?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300" dirty="0" err="1"/>
                        <a:t>Colored</a:t>
                      </a:r>
                      <a:r>
                        <a:rPr lang="da-DK" sz="1300" dirty="0"/>
                        <a:t> bar </a:t>
                      </a:r>
                      <a:r>
                        <a:rPr lang="da-DK" sz="1300" dirty="0" err="1"/>
                        <a:t>chart</a:t>
                      </a:r>
                      <a:r>
                        <a:rPr lang="da-DK" sz="1300" dirty="0"/>
                        <a:t>, </a:t>
                      </a:r>
                      <a:r>
                        <a:rPr lang="da-DK" sz="1300" dirty="0" err="1"/>
                        <a:t>treemap</a:t>
                      </a:r>
                      <a:r>
                        <a:rPr lang="da-DK" sz="1300" dirty="0"/>
                        <a:t>, </a:t>
                      </a:r>
                      <a:r>
                        <a:rPr lang="da-DK" sz="1300" dirty="0" err="1"/>
                        <a:t>highlighted</a:t>
                      </a:r>
                      <a:r>
                        <a:rPr lang="da-DK" sz="1300" dirty="0"/>
                        <a:t> </a:t>
                      </a:r>
                      <a:r>
                        <a:rPr lang="da-DK" sz="1300" dirty="0" err="1"/>
                        <a:t>table</a:t>
                      </a:r>
                      <a:endParaRPr lang="da-DK" sz="13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4926620"/>
                  </a:ext>
                </a:extLst>
              </a:tr>
              <a:tr h="8899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300" b="1"/>
                        <a:t>Compare</a:t>
                      </a:r>
                      <a:endParaRPr lang="da-DK" sz="13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300" dirty="0" err="1"/>
                        <a:t>Compare</a:t>
                      </a:r>
                      <a:r>
                        <a:rPr lang="da-DK" sz="1300" dirty="0"/>
                        <a:t> </a:t>
                      </a:r>
                      <a:r>
                        <a:rPr lang="da-DK" sz="1300" dirty="0" err="1"/>
                        <a:t>values</a:t>
                      </a:r>
                      <a:r>
                        <a:rPr lang="da-DK" sz="1300" dirty="0"/>
                        <a:t> </a:t>
                      </a:r>
                      <a:r>
                        <a:rPr lang="da-DK" sz="1300" dirty="0" err="1"/>
                        <a:t>between</a:t>
                      </a:r>
                      <a:r>
                        <a:rPr lang="da-DK" sz="1300" dirty="0"/>
                        <a:t> </a:t>
                      </a:r>
                      <a:r>
                        <a:rPr lang="da-DK" sz="1300" dirty="0" err="1"/>
                        <a:t>two</a:t>
                      </a:r>
                      <a:r>
                        <a:rPr lang="da-DK" sz="1300" dirty="0"/>
                        <a:t> or more items.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300"/>
                        <a:t>Which genre has the highest average rating?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300" b="0" dirty="0"/>
                        <a:t>Bar </a:t>
                      </a:r>
                      <a:r>
                        <a:rPr lang="da-DK" sz="1300" b="0" dirty="0" err="1"/>
                        <a:t>chart</a:t>
                      </a:r>
                      <a:r>
                        <a:rPr lang="da-DK" sz="1300" b="0" dirty="0"/>
                        <a:t>, </a:t>
                      </a:r>
                      <a:r>
                        <a:rPr lang="da-DK" sz="1300" b="0" dirty="0" err="1"/>
                        <a:t>scatter</a:t>
                      </a:r>
                      <a:r>
                        <a:rPr lang="da-DK" sz="1300" b="0" dirty="0"/>
                        <a:t> plot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4097466"/>
                  </a:ext>
                </a:extLst>
              </a:tr>
              <a:tr h="8899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300" b="1"/>
                        <a:t>Summarize</a:t>
                      </a:r>
                      <a:endParaRPr lang="da-DK" sz="13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300"/>
                        <a:t>Describe the overall characteristics of a dataset or subset.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300"/>
                        <a:t>How are book ratings distributed?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300" b="0" dirty="0"/>
                        <a:t>Histogram</a:t>
                      </a:r>
                      <a:r>
                        <a:rPr lang="da-DK" sz="1300" dirty="0"/>
                        <a:t>, </a:t>
                      </a:r>
                      <a:r>
                        <a:rPr lang="da-DK" sz="1300" dirty="0" err="1"/>
                        <a:t>heatmap</a:t>
                      </a:r>
                      <a:endParaRPr lang="da-DK" sz="13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33268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98456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46AB8-189A-0C89-229F-7BF085E6E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Design Workshop (3): From Data to Visualization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118DC9-EEB8-C094-B94B-C129DFE389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Work in the same groups</a:t>
            </a:r>
          </a:p>
          <a:p>
            <a:r>
              <a:rPr lang="en-GB" dirty="0"/>
              <a:t>Generate visualization using the procedure sketched in the uploaded document: From Data </a:t>
            </a:r>
            <a:r>
              <a:rPr lang="en-GB"/>
              <a:t>to Visualization.</a:t>
            </a:r>
            <a:endParaRPr lang="LID4096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1A818-0548-E1C4-A836-2ED98A74D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8183B9-126C-4932-94BE-502505D2BD01}" type="datetime1">
              <a:rPr lang="en-GB" smtClean="0"/>
              <a:t>05/10/2026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160923-BF13-D3DF-788E-50620DFD0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BF7713-11C8-1C02-6159-FA331340F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DK" smtClean="0"/>
              <a:t>17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1532506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IH.potx" id="{B1C050D2-457E-4331-99AF-8A814FAF0A1D}" vid="{C5388104-6551-4CE6-8B29-5F2B17820F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OIH</Template>
  <TotalTime>119</TotalTime>
  <Words>943</Words>
  <Application>Microsoft Office PowerPoint</Application>
  <PresentationFormat>Widescreen</PresentationFormat>
  <Paragraphs>196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Consolas</vt:lpstr>
      <vt:lpstr>Office Theme</vt:lpstr>
      <vt:lpstr>VIZ1, Session 5</vt:lpstr>
      <vt:lpstr>Designing visualizations</vt:lpstr>
      <vt:lpstr>(1) Exploring a dataset</vt:lpstr>
      <vt:lpstr>Dataset Types</vt:lpstr>
      <vt:lpstr>Data Types</vt:lpstr>
      <vt:lpstr>Attribute Types</vt:lpstr>
      <vt:lpstr>Ordering direction</vt:lpstr>
      <vt:lpstr>Design workshop (1): Data Exploration</vt:lpstr>
      <vt:lpstr>Exploratory vs Expository Visualization</vt:lpstr>
      <vt:lpstr>Question</vt:lpstr>
      <vt:lpstr>Asking Questions about the data</vt:lpstr>
      <vt:lpstr>Design workshop (2): Generate Questions</vt:lpstr>
      <vt:lpstr>From Questions to Tasks</vt:lpstr>
      <vt:lpstr>Actions and Targets</vt:lpstr>
      <vt:lpstr>Example Visualizations for Search Tasks</vt:lpstr>
      <vt:lpstr>Example Visualizations for Query Tasks</vt:lpstr>
      <vt:lpstr>Design Workshop (3): From Data to Visualization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Ole Ildsgaard Hougaard (OIH) | VIA</dc:creator>
  <cp:lastModifiedBy>Ole Ildsgaard Hougaard (OIH) | VIA</cp:lastModifiedBy>
  <cp:revision>29</cp:revision>
  <dcterms:created xsi:type="dcterms:W3CDTF">2026-09-30T05:31:13Z</dcterms:created>
  <dcterms:modified xsi:type="dcterms:W3CDTF">2026-10-05T05:30:34Z</dcterms:modified>
</cp:coreProperties>
</file>