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84" r:id="rId3"/>
    <p:sldId id="263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306" r:id="rId15"/>
    <p:sldId id="304" r:id="rId16"/>
    <p:sldId id="305" r:id="rId17"/>
    <p:sldId id="298" r:id="rId18"/>
    <p:sldId id="299" r:id="rId19"/>
    <p:sldId id="308" r:id="rId20"/>
    <p:sldId id="307" r:id="rId21"/>
    <p:sldId id="309" r:id="rId22"/>
    <p:sldId id="310" r:id="rId23"/>
    <p:sldId id="311" r:id="rId24"/>
    <p:sldId id="312" r:id="rId25"/>
    <p:sldId id="314" r:id="rId26"/>
    <p:sldId id="315" r:id="rId27"/>
    <p:sldId id="316" r:id="rId28"/>
    <p:sldId id="317" r:id="rId29"/>
    <p:sldId id="318" r:id="rId30"/>
    <p:sldId id="313" r:id="rId31"/>
    <p:sldId id="320" r:id="rId32"/>
  </p:sldIdLst>
  <p:sldSz cx="12192000" cy="6858000"/>
  <p:notesSz cx="6858000" cy="9144000"/>
  <p:defaultTextStyle>
    <a:defPPr>
      <a:defRPr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236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049173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A0BE78-136C-4EB0-82F8-6F89320A54EA}" type="datetimeFigureOut">
              <a:rPr lang="en-US"/>
              <a:t>9/4/2026</a:t>
            </a:fld>
            <a:endParaRPr/>
          </a:p>
        </p:txBody>
      </p:sp>
      <p:sp>
        <p:nvSpPr>
          <p:cNvPr id="168648767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8775658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049111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438821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5A648-1CE8-47C1-8D94-DC119F73BB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84527B-780D-FBD0-37D3-F44CB21E4C2C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69739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2719744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21092667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73392FD-379A-43EF-B521-645325000CC0}" type="datetime1">
              <a:rPr lang="en-GB"/>
              <a:t>04/09/2026</a:t>
            </a:fld>
            <a:endParaRPr/>
          </a:p>
        </p:txBody>
      </p:sp>
      <p:sp>
        <p:nvSpPr>
          <p:cNvPr id="11904388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60055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3398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7785082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19750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8183B9-126C-4932-94BE-502505D2BD01}" type="datetime1">
              <a:rPr lang="en-GB"/>
              <a:t>04/09/2026</a:t>
            </a:fld>
            <a:endParaRPr/>
          </a:p>
        </p:txBody>
      </p:sp>
      <p:sp>
        <p:nvSpPr>
          <p:cNvPr id="11258737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8792912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295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08808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1C97FE-D1A0-4415-8424-9D0DD0C9B6F2}" type="datetime1">
              <a:rPr lang="en-GB"/>
              <a:t>04/09/2026</a:t>
            </a:fld>
            <a:endParaRPr/>
          </a:p>
        </p:txBody>
      </p:sp>
      <p:sp>
        <p:nvSpPr>
          <p:cNvPr id="11821953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2057425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877231443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8200" y="1836739"/>
            <a:ext cx="10515600" cy="437356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ide-by-side co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20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476199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36E4093-7D3B-46F0-B134-FA1D41D0750C}" type="datetime1">
              <a:rPr lang="en-GB"/>
              <a:t>04/09/2026</a:t>
            </a:fld>
            <a:endParaRPr/>
          </a:p>
        </p:txBody>
      </p:sp>
      <p:sp>
        <p:nvSpPr>
          <p:cNvPr id="8794912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41002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603657387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8200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43127892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 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5878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391762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8317215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9508994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1935D3F-7175-495B-9EBA-23EFABDFFDE4}" type="datetime1">
              <a:rPr lang="en-GB"/>
              <a:t>04/09/2026</a:t>
            </a:fld>
            <a:endParaRPr/>
          </a:p>
        </p:txBody>
      </p:sp>
      <p:sp>
        <p:nvSpPr>
          <p:cNvPr id="151859484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5032113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777220082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7408" y="2516066"/>
            <a:ext cx="5157788" cy="3728671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9785085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993" y="2516066"/>
            <a:ext cx="5181601" cy="3728671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39427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849125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7386532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640DE-560F-49EC-947F-96B0BAAE894C}" type="datetime1">
              <a:rPr lang="en-GB"/>
              <a:t>04/09/2026</a:t>
            </a:fld>
            <a:endParaRPr/>
          </a:p>
        </p:txBody>
      </p:sp>
      <p:sp>
        <p:nvSpPr>
          <p:cNvPr id="530824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9559667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3866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5069585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93721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995971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7FFBE2-17ED-4487-A6AD-53E5CC708D51}" type="datetime1">
              <a:rPr lang="en-GB"/>
              <a:t>04/09/2026</a:t>
            </a:fld>
            <a:endParaRPr/>
          </a:p>
        </p:txBody>
      </p:sp>
      <p:sp>
        <p:nvSpPr>
          <p:cNvPr id="473479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9088097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73750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551380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004576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1041337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915307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5441696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8F46DC4-28AD-4138-B93F-56B62008EDF1}" type="datetime1">
              <a:rPr lang="en-GB"/>
              <a:t>04/09/2026</a:t>
            </a:fld>
            <a:endParaRPr/>
          </a:p>
        </p:txBody>
      </p:sp>
      <p:sp>
        <p:nvSpPr>
          <p:cNvPr id="120378695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54769400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5572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2420004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2637B48-7300-4AA3-A318-3DF410CB4F23}" type="datetime1">
              <a:rPr lang="en-GB"/>
              <a:t>04/09/2026</a:t>
            </a:fld>
            <a:endParaRPr/>
          </a:p>
        </p:txBody>
      </p:sp>
      <p:sp>
        <p:nvSpPr>
          <p:cNvPr id="128963932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47665451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12171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8DB52B6-2546-43FF-B3EF-41EE09B1A28D}" type="datetime1">
              <a:rPr lang="en-GB"/>
              <a:t>04/09/2026</a:t>
            </a:fld>
            <a:endParaRPr/>
          </a:p>
        </p:txBody>
      </p:sp>
      <p:sp>
        <p:nvSpPr>
          <p:cNvPr id="189065817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85665317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6126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2885701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996906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70357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8BA3DE-D664-485B-A670-4F9846D9F00F}" type="datetime1">
              <a:rPr lang="en-GB"/>
              <a:t>04/09/2026</a:t>
            </a:fld>
            <a:endParaRPr/>
          </a:p>
        </p:txBody>
      </p:sp>
      <p:sp>
        <p:nvSpPr>
          <p:cNvPr id="17186908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4401420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0929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0336388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1329418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069921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C998E3B-E64A-4693-A308-7951ECA79B15}" type="datetime1">
              <a:rPr lang="en-GB"/>
              <a:t>04/09/2026</a:t>
            </a:fld>
            <a:endParaRPr/>
          </a:p>
        </p:txBody>
      </p:sp>
      <p:sp>
        <p:nvSpPr>
          <p:cNvPr id="7050684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9490285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960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0223391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9833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6B53B-F8BB-43CD-B391-40C014116A36}" type="datetime1">
              <a:rPr lang="en-GB"/>
              <a:t>04/09/2026</a:t>
            </a:fld>
            <a:endParaRPr/>
          </a:p>
        </p:txBody>
      </p:sp>
      <p:sp>
        <p:nvSpPr>
          <p:cNvPr id="20855341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653528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84758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3119804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63814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1118B8D-3A7E-4793-8999-657BC3EF6574}" type="datetime1">
              <a:rPr lang="en-GB"/>
              <a:t>04/09/2026</a:t>
            </a:fld>
            <a:endParaRPr/>
          </a:p>
        </p:txBody>
      </p:sp>
      <p:sp>
        <p:nvSpPr>
          <p:cNvPr id="7789150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7056103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51847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239724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421507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A4C8AB-6B00-48F2-89BC-5CCAE9514F64}" type="datetime1">
              <a:rPr lang="en-GB"/>
              <a:t>04/09/2026</a:t>
            </a:fld>
            <a:endParaRPr/>
          </a:p>
        </p:txBody>
      </p:sp>
      <p:sp>
        <p:nvSpPr>
          <p:cNvPr id="135324865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14797638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/>
  <p:txStyles>
    <p:titleStyle>
      <a:lvl1pPr algn="l" defTabSz="914400" rtl="0" eaLnBrk="1" hangingPunct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hangingPunct="1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17334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VIZ1, Session 2</a:t>
            </a:r>
            <a:endParaRPr dirty="0"/>
          </a:p>
        </p:txBody>
      </p:sp>
      <p:sp>
        <p:nvSpPr>
          <p:cNvPr id="45609925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Visual Encodings of Data</a:t>
            </a:r>
            <a:endParaRPr dirty="0"/>
          </a:p>
        </p:txBody>
      </p:sp>
      <p:sp>
        <p:nvSpPr>
          <p:cNvPr id="26026019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A1FCB8-642A-4A5E-B6E8-4571E484A705}" type="datetime1">
              <a:rPr lang="en-GB"/>
              <a:t>04/09/2026</a:t>
            </a:fld>
            <a:endParaRPr/>
          </a:p>
        </p:txBody>
      </p:sp>
      <p:sp>
        <p:nvSpPr>
          <p:cNvPr id="7305148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44235731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2BAB05-8F0E-D49A-E3AE-F14C151D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did it go?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AD6993-4AF7-EDE8-F0C2-BABA1E86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04/09/2026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EE1B2-B3D7-AC7A-6253-0FCE04609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D1741-9D43-435A-DE74-A6F6C777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44B831-5838-0399-3947-92C9099D00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&lt;path d="M 100 500 </a:t>
            </a:r>
          </a:p>
          <a:p>
            <a:r>
              <a:rPr lang="en-GB" sz="2400" dirty="0"/>
              <a:t>  c 20 -150, 0 -150, 70 -200 </a:t>
            </a:r>
          </a:p>
          <a:p>
            <a:r>
              <a:rPr lang="en-GB" sz="2400" dirty="0"/>
              <a:t>  c 30 150, 80 -150, 80 -150 </a:t>
            </a:r>
          </a:p>
          <a:p>
            <a:r>
              <a:rPr lang="en-GB" sz="2400" dirty="0"/>
              <a:t>  c 0 0, 50 300, 80 150 </a:t>
            </a:r>
          </a:p>
          <a:p>
            <a:r>
              <a:rPr lang="en-GB" sz="2400" dirty="0"/>
              <a:t>  c 70 50, 50 50, 70 200 </a:t>
            </a:r>
          </a:p>
          <a:p>
            <a:r>
              <a:rPr lang="en-GB" sz="2400" dirty="0"/>
              <a:t>  z" </a:t>
            </a:r>
          </a:p>
          <a:p>
            <a:r>
              <a:rPr lang="en-GB" sz="2400" dirty="0"/>
              <a:t>  fill="none" </a:t>
            </a:r>
          </a:p>
          <a:p>
            <a:r>
              <a:rPr lang="en-GB" sz="2400" dirty="0"/>
              <a:t>  stroke="black" </a:t>
            </a:r>
          </a:p>
          <a:p>
            <a:r>
              <a:rPr lang="en-GB" sz="2400" dirty="0"/>
              <a:t>  stroke-width="2" /&gt;</a:t>
            </a:r>
          </a:p>
        </p:txBody>
      </p:sp>
      <p:pic>
        <p:nvPicPr>
          <p:cNvPr id="13" name="Content Placeholder 9">
            <a:extLst>
              <a:ext uri="{FF2B5EF4-FFF2-40B4-BE49-F238E27FC236}">
                <a16:creationId xmlns:a16="http://schemas.microsoft.com/office/drawing/2014/main" id="{C635C677-45BC-0BAD-E7F5-25DAA2403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91325" y="1864824"/>
            <a:ext cx="38862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4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BA2E6-0D1B-2B5A-34C2-C4CBBB50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what, the why, and </a:t>
            </a:r>
            <a:r>
              <a:rPr lang="en-GB"/>
              <a:t>the how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3D030-EFF6-7DDB-D494-964DB00C8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8E7D2-3EF9-C7A8-D70C-E6823409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92CF7-9FF8-EA5C-1138-653009E4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3</a:t>
            </a:fld>
            <a:endParaRPr lang="en-GB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1FAF2A4-8BF6-E92C-D0DF-3CC06A47A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20888" y="1690688"/>
            <a:ext cx="4550224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01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2D6FD-31AC-8100-5EBD-6D69C838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What: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BE3E7-BC73-EFC5-3DAE-224E5378B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Items</a:t>
            </a:r>
          </a:p>
          <a:p>
            <a:pPr lvl="1"/>
            <a:r>
              <a:rPr lang="en-GB" dirty="0"/>
              <a:t>Samples, objects, rows, nodes in a graph, …</a:t>
            </a:r>
          </a:p>
          <a:p>
            <a:r>
              <a:rPr lang="en-GB" dirty="0"/>
              <a:t>Attributes</a:t>
            </a:r>
          </a:p>
          <a:p>
            <a:pPr lvl="1"/>
            <a:r>
              <a:rPr lang="en-GB" dirty="0"/>
              <a:t>of items</a:t>
            </a:r>
          </a:p>
          <a:p>
            <a:r>
              <a:rPr lang="en-GB" dirty="0"/>
              <a:t>Links</a:t>
            </a:r>
          </a:p>
          <a:p>
            <a:pPr lvl="1"/>
            <a:r>
              <a:rPr lang="en-GB" dirty="0"/>
              <a:t>Not hyperlinks - edges of graphs or trees</a:t>
            </a:r>
          </a:p>
          <a:p>
            <a:r>
              <a:rPr lang="en-GB" dirty="0"/>
              <a:t>Positions</a:t>
            </a:r>
          </a:p>
          <a:p>
            <a:pPr lvl="1"/>
            <a:r>
              <a:rPr lang="en-GB" dirty="0"/>
              <a:t>Geographical, spatial 2D, spatial 3D</a:t>
            </a:r>
          </a:p>
          <a:p>
            <a:r>
              <a:rPr lang="en-GB" dirty="0"/>
              <a:t>Grid</a:t>
            </a:r>
          </a:p>
          <a:p>
            <a:pPr lvl="1"/>
            <a:r>
              <a:rPr lang="en-GB" dirty="0"/>
              <a:t>Collections of positions with underlying geometry or topology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3777D-635A-3D6D-5512-B86700986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7DF1E-3B28-F83C-9EA2-88BFFA514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D3A74-88E3-B283-E02D-45E70C11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7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13D0-A1C1-8D4A-0E76-D60E9151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What: Dataset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8F88E-F71D-68CB-8F88-ECD226871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Tables</a:t>
            </a:r>
          </a:p>
          <a:p>
            <a:pPr lvl="1"/>
            <a:r>
              <a:rPr lang="en-GB" dirty="0"/>
              <a:t>Rows of items identified by a key, columns of attributes</a:t>
            </a:r>
          </a:p>
          <a:p>
            <a:r>
              <a:rPr lang="en-GB" dirty="0"/>
              <a:t>Networks</a:t>
            </a:r>
          </a:p>
          <a:p>
            <a:pPr lvl="1"/>
            <a:r>
              <a:rPr lang="en-GB" dirty="0"/>
              <a:t>Graphs: Nodes and links</a:t>
            </a:r>
          </a:p>
          <a:p>
            <a:r>
              <a:rPr lang="en-GB" dirty="0"/>
              <a:t>Fields</a:t>
            </a:r>
          </a:p>
          <a:p>
            <a:pPr lvl="1"/>
            <a:r>
              <a:rPr lang="en-GB" dirty="0"/>
              <a:t>Items sampled from a continuous domain. (The key is continuous.)</a:t>
            </a:r>
          </a:p>
          <a:p>
            <a:r>
              <a:rPr lang="en-GB" dirty="0"/>
              <a:t>Geometry</a:t>
            </a:r>
          </a:p>
          <a:p>
            <a:pPr lvl="1"/>
            <a:r>
              <a:rPr lang="en-GB" dirty="0"/>
              <a:t>Spatial fields. Usually geographical.</a:t>
            </a:r>
          </a:p>
          <a:p>
            <a:r>
              <a:rPr lang="en-GB" dirty="0"/>
              <a:t>Multi-dimensional tables</a:t>
            </a:r>
          </a:p>
          <a:p>
            <a:pPr lvl="1"/>
            <a:r>
              <a:rPr lang="en-GB" dirty="0"/>
              <a:t>Items identified by 2 or more keys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801EF-E024-D085-115E-EDB44810B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F7B54-D018-4C71-D440-5E92652C5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7719B-FB6B-751A-0B33-C9658FF9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04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0CF63-1218-4C47-C442-E462FA6E6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What: Attribute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F51DC-0BB5-EAB9-7F09-B616125AD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Categorical</a:t>
            </a:r>
          </a:p>
          <a:p>
            <a:pPr lvl="1"/>
            <a:r>
              <a:rPr lang="en-GB" dirty="0"/>
              <a:t>Discrete, unordered data</a:t>
            </a:r>
          </a:p>
          <a:p>
            <a:pPr lvl="1"/>
            <a:r>
              <a:rPr lang="en-GB" dirty="0"/>
              <a:t>Names, colours, gender, species, manufacturer, …</a:t>
            </a:r>
          </a:p>
          <a:p>
            <a:r>
              <a:rPr lang="en-GB" dirty="0"/>
              <a:t>Ordinal</a:t>
            </a:r>
          </a:p>
          <a:p>
            <a:pPr lvl="1"/>
            <a:r>
              <a:rPr lang="en-GB" dirty="0"/>
              <a:t>Discrete, ordered data</a:t>
            </a:r>
          </a:p>
          <a:p>
            <a:pPr lvl="1"/>
            <a:r>
              <a:rPr lang="en-GB" dirty="0"/>
              <a:t>Shirt sizes, grades, floors, dates, …</a:t>
            </a:r>
          </a:p>
          <a:p>
            <a:r>
              <a:rPr lang="en-GB" dirty="0"/>
              <a:t>Quantitative</a:t>
            </a:r>
          </a:p>
          <a:p>
            <a:pPr lvl="1"/>
            <a:r>
              <a:rPr lang="en-GB" dirty="0"/>
              <a:t>Continuous, ordered data</a:t>
            </a:r>
          </a:p>
          <a:p>
            <a:pPr lvl="1"/>
            <a:r>
              <a:rPr lang="en-GB" dirty="0"/>
              <a:t>Revenue, medical data, prices, …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AFE3A-DFCD-D8B1-2640-59474124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C4226-39D5-2C8A-BF71-2FE5DEE6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C72D3-FE13-275D-386B-4CB06986F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66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EBBF3-67E4-A3A2-9844-EBB700A2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49BF-C676-B01C-0F86-E85486AF5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Ask people what they need, and you will get all kinds of answers</a:t>
            </a:r>
          </a:p>
          <a:p>
            <a:r>
              <a:rPr lang="en-GB" i="1" dirty="0"/>
              <a:t>Task abstraction</a:t>
            </a:r>
            <a:r>
              <a:rPr lang="en-GB" dirty="0"/>
              <a:t> is about turning it into language we can translate into visual elements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They: "I want to see how ice cream sales are influenced by the temperature"</a:t>
            </a:r>
          </a:p>
          <a:p>
            <a:pPr lvl="1"/>
            <a:r>
              <a:rPr lang="en-GB" dirty="0"/>
              <a:t>We: "You want to </a:t>
            </a:r>
            <a:r>
              <a:rPr lang="en-GB" i="1" dirty="0"/>
              <a:t>discover trends.</a:t>
            </a:r>
            <a:r>
              <a:rPr lang="en-GB" dirty="0"/>
              <a:t>"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They: "I want to explore how average incomes differ in our different target segments."</a:t>
            </a:r>
          </a:p>
          <a:p>
            <a:pPr lvl="1"/>
            <a:r>
              <a:rPr lang="en-GB" dirty="0"/>
              <a:t>We: You want to </a:t>
            </a:r>
            <a:r>
              <a:rPr lang="en-GB" i="1" dirty="0"/>
              <a:t>compare values</a:t>
            </a:r>
            <a:r>
              <a:rPr lang="en-GB" dirty="0"/>
              <a:t>."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765B2-8BB5-5F86-BD87-13848624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D97DC-434B-25D7-92AF-7A310FC54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B390B-132C-944E-8535-43D694B1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64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4B7D6-142E-D9C0-650C-54BAD7752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Why: Verbs and Nouns (incomplete)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6906E-9DD0-3748-EFC6-E1A55FF78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verbs: Actions</a:t>
            </a:r>
          </a:p>
          <a:p>
            <a:pPr lvl="1"/>
            <a:r>
              <a:rPr lang="en-GB" dirty="0" err="1"/>
              <a:t>Analyze</a:t>
            </a:r>
            <a:endParaRPr lang="en-GB" dirty="0"/>
          </a:p>
          <a:p>
            <a:pPr lvl="2"/>
            <a:r>
              <a:rPr lang="en-GB" dirty="0"/>
              <a:t>Discover, Present, Enjoy</a:t>
            </a:r>
          </a:p>
          <a:p>
            <a:pPr lvl="2"/>
            <a:r>
              <a:rPr lang="en-GB" dirty="0"/>
              <a:t>Annotate, Record, Derive</a:t>
            </a:r>
          </a:p>
          <a:p>
            <a:pPr lvl="1"/>
            <a:r>
              <a:rPr lang="en-GB" dirty="0"/>
              <a:t>Search</a:t>
            </a:r>
          </a:p>
          <a:p>
            <a:pPr lvl="2"/>
            <a:r>
              <a:rPr lang="en-GB" dirty="0"/>
              <a:t>Lookup, browse, Locate, Explore</a:t>
            </a:r>
          </a:p>
          <a:p>
            <a:pPr lvl="1"/>
            <a:r>
              <a:rPr lang="en-GB" dirty="0"/>
              <a:t>Query</a:t>
            </a:r>
          </a:p>
          <a:p>
            <a:pPr lvl="2"/>
            <a:r>
              <a:rPr lang="en-GB" dirty="0"/>
              <a:t>Identify, compare, summarize</a:t>
            </a:r>
          </a:p>
          <a:p>
            <a:r>
              <a:rPr lang="en-GB" dirty="0"/>
              <a:t>The nouns: Targets</a:t>
            </a:r>
          </a:p>
          <a:p>
            <a:pPr lvl="1"/>
            <a:r>
              <a:rPr lang="en-GB" dirty="0"/>
              <a:t>All Data</a:t>
            </a:r>
          </a:p>
          <a:p>
            <a:pPr lvl="2"/>
            <a:r>
              <a:rPr lang="en-GB" dirty="0"/>
              <a:t>Trends, outliers, features</a:t>
            </a:r>
          </a:p>
          <a:p>
            <a:pPr lvl="1"/>
            <a:r>
              <a:rPr lang="en-GB" dirty="0"/>
              <a:t>Attributes</a:t>
            </a:r>
          </a:p>
          <a:p>
            <a:pPr lvl="2"/>
            <a:r>
              <a:rPr lang="en-GB" dirty="0"/>
              <a:t>Distribution, extremes, dependency, correlation, similarity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24DDC-75AF-6E34-F3BA-92D488FA0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16327-0AA7-6C6F-0857-7443100F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60595-5AF0-82DE-0192-A5B73689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340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CFFA-588A-2083-2400-154CF4A6B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data: Keys and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3ADAD-398F-7AF3-B4B7-35004D60F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table is a list of items (rows)</a:t>
            </a:r>
          </a:p>
          <a:p>
            <a:r>
              <a:rPr lang="en-GB" dirty="0"/>
              <a:t>An item is identified by </a:t>
            </a:r>
            <a:r>
              <a:rPr lang="en-GB" i="1" dirty="0"/>
              <a:t>keys</a:t>
            </a:r>
          </a:p>
          <a:p>
            <a:pPr lvl="1"/>
            <a:r>
              <a:rPr lang="en-GB" dirty="0"/>
              <a:t>A key is an attribute</a:t>
            </a:r>
          </a:p>
          <a:p>
            <a:r>
              <a:rPr lang="en-GB" dirty="0"/>
              <a:t>The rest of the attributes are </a:t>
            </a:r>
            <a:r>
              <a:rPr lang="en-GB" i="1" dirty="0"/>
              <a:t>values</a:t>
            </a:r>
            <a:endParaRPr lang="en-GB" dirty="0"/>
          </a:p>
          <a:p>
            <a:r>
              <a:rPr lang="en-GB" dirty="0"/>
              <a:t>Visualizing tables</a:t>
            </a:r>
          </a:p>
          <a:p>
            <a:pPr lvl="1"/>
            <a:r>
              <a:rPr lang="en-GB" dirty="0"/>
              <a:t>Visualizing key + value or 2 values</a:t>
            </a:r>
          </a:p>
          <a:p>
            <a:pPr lvl="1"/>
            <a:r>
              <a:rPr lang="en-GB" dirty="0"/>
              <a:t>Are the attributes quantitative, ordered or categorical?</a:t>
            </a:r>
          </a:p>
          <a:p>
            <a:pPr lvl="1"/>
            <a:r>
              <a:rPr lang="en-GB" dirty="0"/>
              <a:t>What is the abstract task?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5CF46-060C-C7C5-B8E5-390B6AADC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D9147-DDC0-83CF-8131-35EC7987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CF891-206F-79CC-B92C-A8CDF0BD6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979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BA2873C-F70C-116E-E892-342F87247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Discover trends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99AF4F-A986-6FF9-7E06-0FCBAB1A9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What: Scatterplots</a:t>
            </a:r>
            <a:br>
              <a:rPr lang="en-GB" dirty="0"/>
            </a:br>
            <a:r>
              <a:rPr lang="en-GB" dirty="0"/>
              <a:t>2 quantitative values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57AEDC9-4FFD-93A9-0359-12446212C8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1437054" y="2505075"/>
            <a:ext cx="3963254" cy="3684588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765FD2-78E4-6680-B9E6-7194F9B11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What: Scatterplot matrix</a:t>
            </a:r>
          </a:p>
          <a:p>
            <a:r>
              <a:rPr lang="en-GB" dirty="0"/>
              <a:t>Pairwise quantitative values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87D2362B-950A-C359-85F4-9755A53BB48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6481999" y="2505075"/>
            <a:ext cx="4563590" cy="36845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B4757-86FD-3D6C-B9CC-724A090AA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8F73B-BC01-74C1-46E4-39665C57D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4B306-965D-0439-EF4A-65C1DF03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317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C105-0A2C-9E77-6A5E-6A1BBD9D1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Discover trends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C1F8B-54EC-18C8-CCEE-A3A3A61AC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What: Line Chart</a:t>
            </a:r>
          </a:p>
          <a:p>
            <a:r>
              <a:rPr lang="en-GB" dirty="0"/>
              <a:t>Ordinal key + quantitative value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48E29C7-70CF-23B5-A4F3-4667FA6D53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1308599" y="2975577"/>
            <a:ext cx="4220164" cy="274358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910D1E-53D9-58BF-8C53-FBA291ADC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What: Parallel coordinates</a:t>
            </a:r>
          </a:p>
          <a:p>
            <a:r>
              <a:rPr lang="en-GB" dirty="0"/>
              <a:t>Ordinal key + </a:t>
            </a:r>
            <a:r>
              <a:rPr lang="en-GB" dirty="0" err="1"/>
              <a:t>quantative</a:t>
            </a:r>
            <a:r>
              <a:rPr lang="en-GB" dirty="0"/>
              <a:t> values</a:t>
            </a:r>
          </a:p>
        </p:txBody>
      </p:sp>
      <p:pic>
        <p:nvPicPr>
          <p:cNvPr id="12" name="Content Placeholder 11" descr="Parallel Coordinates | Data Viz Project">
            <a:extLst>
              <a:ext uri="{FF2B5EF4-FFF2-40B4-BE49-F238E27FC236}">
                <a16:creationId xmlns:a16="http://schemas.microsoft.com/office/drawing/2014/main" id="{091658B1-34DB-4722-B11A-EC073BD944C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3182981"/>
            <a:ext cx="5183188" cy="232877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FAB28-52FF-A5C6-6D95-DAB5491A1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F46DC4-28AD-4138-B93F-56B62008EDF1}" type="datetime1">
              <a:rPr lang="en-GB" smtClean="0"/>
              <a:t>04/09/2026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B2632-F0DB-8BCA-AE3A-FC397C44B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AAFCB9-0BD1-71A1-9FCF-8A88E348A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346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F22F5-17C1-B002-F0C9-5B768EC7F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Compare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23301-9F70-32F0-05D5-2EC2E3BCC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What: Bar chart</a:t>
            </a:r>
          </a:p>
          <a:p>
            <a:r>
              <a:rPr lang="en-GB" dirty="0"/>
              <a:t>Ordinal key + quantitative value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2AD83F-A2B0-FB93-FFCF-4104A242F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What: Radial bar chart</a:t>
            </a:r>
          </a:p>
          <a:p>
            <a:r>
              <a:rPr lang="en-GB" dirty="0"/>
              <a:t>Cyclic key + quantitative value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88B0AB4D-04A1-6F48-42E3-284595AB4E5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 bwMode="auto">
          <a:xfrm>
            <a:off x="7049054" y="2642156"/>
            <a:ext cx="3429479" cy="341042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BBA007-C8FA-6AA1-4558-77E27D840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F46DC4-28AD-4138-B93F-56B62008EDF1}" type="datetime1">
              <a:rPr lang="en-GB" smtClean="0"/>
              <a:t>04/09/2026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BFA78B-007D-0D5E-4514-CE7B201F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5ABFC8-6B6C-280E-A24F-2103C6065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12</a:t>
            </a:fld>
            <a:endParaRPr lang="en-GB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4E19EF2-09EF-D4A9-2A20-BB4DF4F158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1045136" y="2505075"/>
            <a:ext cx="4747091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693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8C4E0F9-9897-DAE2-5928-10C52FE32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702126"/>
            <a:ext cx="10513747" cy="34531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45AA02-726F-D3BB-8466-1BFD69D61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Working with data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A66CE-67F1-B188-43AB-63D64A775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04/09/2026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89FEC-40E2-985D-FC3A-26B94B920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934446-FE3A-CA8A-B55A-62D670F6F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181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9CF21-B27C-E5F7-B423-3ECEED00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7294D7-7D7C-63C9-3B35-0E588CE88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6E4093-7D3B-46F0-B134-FA1D41D0750C}" type="datetime1">
              <a:rPr lang="en-GB" smtClean="0"/>
              <a:t>04/09/2026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C9045-DEBF-201C-F520-6972478E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D2847-DF2E-3B90-D159-1764714AA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14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65343C-32A8-65DA-8BD7-0A00C6D72F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sz="2000" dirty="0" err="1"/>
              <a:t>const</a:t>
            </a:r>
            <a:r>
              <a:rPr lang="en-GB" sz="2000" dirty="0"/>
              <a:t> </a:t>
            </a:r>
            <a:r>
              <a:rPr lang="en-GB" sz="2000" dirty="0" err="1"/>
              <a:t>svg</a:t>
            </a:r>
            <a:r>
              <a:rPr lang="en-GB" sz="2000" dirty="0"/>
              <a:t> = d3.select("#container")</a:t>
            </a:r>
          </a:p>
          <a:p>
            <a:r>
              <a:rPr lang="en-GB" sz="2000" dirty="0"/>
              <a:t>  .append("div")</a:t>
            </a:r>
          </a:p>
          <a:p>
            <a:r>
              <a:rPr lang="en-GB" sz="2000" dirty="0"/>
              <a:t>  .</a:t>
            </a:r>
            <a:r>
              <a:rPr lang="en-GB" sz="2000" dirty="0" err="1"/>
              <a:t>attr</a:t>
            </a:r>
            <a:r>
              <a:rPr lang="en-GB" sz="2000" dirty="0"/>
              <a:t>("id", "</a:t>
            </a:r>
            <a:r>
              <a:rPr lang="en-GB" sz="2000" dirty="0" err="1"/>
              <a:t>barChartSVG</a:t>
            </a:r>
            <a:r>
              <a:rPr lang="en-GB" sz="2000" dirty="0"/>
              <a:t>")</a:t>
            </a:r>
          </a:p>
          <a:p>
            <a:r>
              <a:rPr lang="en-GB" sz="2000" dirty="0"/>
              <a:t>  .append("</a:t>
            </a:r>
            <a:r>
              <a:rPr lang="en-GB" sz="2000" dirty="0" err="1"/>
              <a:t>svg</a:t>
            </a:r>
            <a:r>
              <a:rPr lang="en-GB" sz="2000" dirty="0"/>
              <a:t>")</a:t>
            </a:r>
          </a:p>
          <a:p>
            <a:r>
              <a:rPr lang="en-GB" sz="2000" dirty="0"/>
              <a:t>  .</a:t>
            </a:r>
            <a:r>
              <a:rPr lang="en-GB" sz="2000" dirty="0" err="1"/>
              <a:t>attr</a:t>
            </a:r>
            <a:r>
              <a:rPr lang="en-GB" sz="2000" dirty="0"/>
              <a:t>("</a:t>
            </a:r>
            <a:r>
              <a:rPr lang="en-GB" sz="2000" dirty="0" err="1"/>
              <a:t>viewBox</a:t>
            </a:r>
            <a:r>
              <a:rPr lang="en-GB" sz="2000" dirty="0"/>
              <a:t>", "0 0 800 4000")</a:t>
            </a:r>
          </a:p>
          <a:p>
            <a:br>
              <a:rPr lang="en-GB" sz="2000" dirty="0"/>
            </a:br>
            <a:endParaRPr lang="en-GB" sz="2000" dirty="0"/>
          </a:p>
          <a:p>
            <a:endParaRPr lang="en-GB" sz="2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E968CB1-C537-7FD4-9714-4D9F4A430DF9}"/>
              </a:ext>
            </a:extLst>
          </p:cNvPr>
          <p:cNvSpPr txBox="1">
            <a:spLocks/>
          </p:cNvSpPr>
          <p:nvPr/>
        </p:nvSpPr>
        <p:spPr bwMode="auto"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dirty="0"/>
              <a:t>A Collection of SVG or HTML elements</a:t>
            </a:r>
          </a:p>
          <a:p>
            <a:pPr>
              <a:defRPr/>
            </a:pPr>
            <a:r>
              <a:rPr lang="en-GB" dirty="0"/>
              <a:t>Selected using CSS selector</a:t>
            </a:r>
          </a:p>
          <a:p>
            <a:pPr>
              <a:defRPr/>
            </a:pPr>
            <a:r>
              <a:rPr lang="en-GB" dirty="0"/>
              <a:t>Used to</a:t>
            </a:r>
          </a:p>
          <a:p>
            <a:pPr lvl="1">
              <a:defRPr/>
            </a:pPr>
            <a:r>
              <a:rPr lang="en-GB" dirty="0"/>
              <a:t>Change attributes</a:t>
            </a:r>
          </a:p>
          <a:p>
            <a:pPr lvl="1">
              <a:defRPr/>
            </a:pPr>
            <a:r>
              <a:rPr lang="en-GB" dirty="0"/>
              <a:t>Add elements</a:t>
            </a:r>
          </a:p>
          <a:p>
            <a:pPr lvl="1">
              <a:defRPr/>
            </a:pPr>
            <a:r>
              <a:rPr lang="en-GB" dirty="0"/>
              <a:t>Delete elements</a:t>
            </a:r>
          </a:p>
          <a:p>
            <a:pPr lvl="1">
              <a:defRPr/>
            </a:pPr>
            <a:r>
              <a:rPr lang="en-GB" dirty="0"/>
              <a:t>Bind data</a:t>
            </a:r>
          </a:p>
        </p:txBody>
      </p:sp>
    </p:spTree>
    <p:extLst>
      <p:ext uri="{BB962C8B-B14F-4D97-AF65-F5344CB8AC3E}">
        <p14:creationId xmlns:p14="http://schemas.microsoft.com/office/powerpoint/2010/main" val="1341463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932BF-C91E-32A6-B4E1-497DC08FB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D6BE4-15F7-46EC-F8FF-82B2064DF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Making D3.js reactive to the data</a:t>
            </a:r>
          </a:p>
          <a:p>
            <a:r>
              <a:rPr lang="en-GB" dirty="0"/>
              <a:t>Procedure:</a:t>
            </a:r>
          </a:p>
          <a:p>
            <a:pPr lvl="1"/>
            <a:r>
              <a:rPr lang="en-GB" dirty="0"/>
              <a:t>Select some elements</a:t>
            </a:r>
          </a:p>
          <a:p>
            <a:pPr lvl="1"/>
            <a:r>
              <a:rPr lang="en-GB" dirty="0"/>
              <a:t>Define the data</a:t>
            </a:r>
          </a:p>
          <a:p>
            <a:pPr lvl="1"/>
            <a:r>
              <a:rPr lang="en-GB" dirty="0"/>
              <a:t>Join with the data - updates the elements to fit the data</a:t>
            </a:r>
          </a:p>
          <a:p>
            <a:pPr lvl="1"/>
            <a:r>
              <a:rPr lang="en-GB" dirty="0"/>
              <a:t>Format the new (and old) elements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366E5-B141-4185-D69F-AD1D1EE49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5270C-2465-249B-38FC-0E1A575F1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CD61E-1F83-E1CF-3646-3AA7F003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5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FD4A3-2B50-8C84-E383-6B948D5D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Binding: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78D12-A0D6-538E-3A3B-0116683CE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04/09/2026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ECEEE-60A1-1A5E-7D99-1688A70A2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34CE7-AC94-20E3-DBEA-70B603B08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16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E60E16-0DCA-F879-4451-0C61737A56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/>
              <a:t>svg.selectAll</a:t>
            </a:r>
            <a:r>
              <a:rPr lang="en-GB" dirty="0"/>
              <a:t>("circle")</a:t>
            </a:r>
          </a:p>
          <a:p>
            <a:r>
              <a:rPr lang="en-GB" dirty="0"/>
              <a:t>  .data(data)</a:t>
            </a:r>
          </a:p>
          <a:p>
            <a:r>
              <a:rPr lang="en-GB" dirty="0"/>
              <a:t>  .join("circle")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("cx", d =&gt; </a:t>
            </a:r>
            <a:r>
              <a:rPr lang="en-GB" dirty="0" err="1"/>
              <a:t>systolicScale</a:t>
            </a:r>
            <a:r>
              <a:rPr lang="en-GB" dirty="0"/>
              <a:t>(</a:t>
            </a:r>
            <a:r>
              <a:rPr lang="en-GB" dirty="0" err="1"/>
              <a:t>d.systolic</a:t>
            </a:r>
            <a:r>
              <a:rPr lang="en-GB" dirty="0"/>
              <a:t>))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("cy", d =&gt; </a:t>
            </a:r>
            <a:r>
              <a:rPr lang="en-GB" dirty="0" err="1"/>
              <a:t>diastolicScale</a:t>
            </a:r>
            <a:r>
              <a:rPr lang="en-GB" dirty="0"/>
              <a:t>(</a:t>
            </a:r>
            <a:r>
              <a:rPr lang="en-GB" dirty="0" err="1"/>
              <a:t>d.diastolic</a:t>
            </a:r>
            <a:r>
              <a:rPr lang="en-GB" dirty="0"/>
              <a:t>))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("r", d =&gt; </a:t>
            </a:r>
            <a:r>
              <a:rPr lang="en-GB" dirty="0" err="1"/>
              <a:t>countScale</a:t>
            </a:r>
            <a:r>
              <a:rPr lang="en-GB" dirty="0"/>
              <a:t>(</a:t>
            </a:r>
            <a:r>
              <a:rPr lang="en-GB" dirty="0" err="1"/>
              <a:t>d.count</a:t>
            </a:r>
            <a:r>
              <a:rPr lang="en-GB" dirty="0"/>
              <a:t>))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("fill", d =&gt; </a:t>
            </a:r>
            <a:r>
              <a:rPr lang="en-GB" dirty="0" err="1"/>
              <a:t>colorScale</a:t>
            </a:r>
            <a:r>
              <a:rPr lang="en-GB" dirty="0"/>
              <a:t>(</a:t>
            </a:r>
            <a:r>
              <a:rPr lang="en-GB" dirty="0" err="1"/>
              <a:t>d.day</a:t>
            </a:r>
            <a:r>
              <a:rPr lang="en-GB" dirty="0"/>
              <a:t>))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("stroke", "black")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("stroke-width", 2)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9486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371D-1B4E-8053-B5D8-B9BF9C99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 (revisited)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5B4AB-0F8D-4EA4-9066-4481D624A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Scaling is a mapping from data to displayed values</a:t>
            </a:r>
          </a:p>
          <a:p>
            <a:pPr lvl="1"/>
            <a:r>
              <a:rPr lang="en-GB" dirty="0"/>
              <a:t>positions</a:t>
            </a:r>
          </a:p>
          <a:p>
            <a:pPr lvl="1"/>
            <a:r>
              <a:rPr lang="en-GB" dirty="0"/>
              <a:t>colours</a:t>
            </a:r>
          </a:p>
          <a:p>
            <a:pPr lvl="1"/>
            <a:r>
              <a:rPr lang="en-GB" dirty="0"/>
              <a:t>texts</a:t>
            </a:r>
          </a:p>
          <a:p>
            <a:pPr lvl="1"/>
            <a:r>
              <a:rPr lang="en-GB" dirty="0"/>
              <a:t>…</a:t>
            </a:r>
          </a:p>
          <a:p>
            <a:r>
              <a:rPr lang="en-GB" dirty="0"/>
              <a:t>It is used to display values consistently</a:t>
            </a:r>
          </a:p>
          <a:p>
            <a:r>
              <a:rPr lang="en-GB" dirty="0"/>
              <a:t>It is mandatory for making things like axis on a scatterplot, and so 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F6FCD-90D1-4AD4-7675-A9123AC34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E46C9-6523-730D-D99D-F099872D6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AB18C-DA4B-8D8E-FE52-EB0A04E5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026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6B796-62BD-FA2C-7FE8-84D222191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Scaling: Linear Scaling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4F0B4-E103-F440-F79C-614DA0D3E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04/09/2026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8A8296-34C3-A0AE-1A1F-DC97254CF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E0277-6127-436F-479C-20399338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18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41E4F6-DE94-C42F-5615-552A650881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systolicScale</a:t>
            </a:r>
            <a:r>
              <a:rPr lang="en-GB" dirty="0"/>
              <a:t> = d3.scaleLinear()</a:t>
            </a:r>
          </a:p>
          <a:p>
            <a:r>
              <a:rPr lang="en-GB" dirty="0"/>
              <a:t>  .domain([90, 160])</a:t>
            </a:r>
          </a:p>
          <a:p>
            <a:r>
              <a:rPr lang="en-GB" dirty="0"/>
              <a:t>  .range([100, 660])</a:t>
            </a:r>
          </a:p>
          <a:p>
            <a:endParaRPr lang="en-GB" dirty="0"/>
          </a:p>
          <a:p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diastolicScale</a:t>
            </a:r>
            <a:r>
              <a:rPr lang="en-GB" dirty="0"/>
              <a:t> = d3.scaleLinear()</a:t>
            </a:r>
          </a:p>
          <a:p>
            <a:r>
              <a:rPr lang="en-GB" dirty="0"/>
              <a:t>  .domain([60, 110])</a:t>
            </a:r>
          </a:p>
          <a:p>
            <a:r>
              <a:rPr lang="en-GB" dirty="0"/>
              <a:t>  .range([500, 100])</a:t>
            </a:r>
          </a:p>
          <a:p>
            <a:endParaRPr lang="en-GB" dirty="0"/>
          </a:p>
          <a:p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colorScale</a:t>
            </a:r>
            <a:r>
              <a:rPr lang="en-GB" dirty="0"/>
              <a:t> = d3.scaleLinear()</a:t>
            </a:r>
          </a:p>
          <a:p>
            <a:r>
              <a:rPr lang="en-GB" dirty="0"/>
              <a:t>  .domain([0, 3])</a:t>
            </a:r>
          </a:p>
          <a:p>
            <a:r>
              <a:rPr lang="en-GB" dirty="0"/>
              <a:t>  .range(["white", "</a:t>
            </a:r>
            <a:r>
              <a:rPr lang="en-GB" dirty="0" err="1"/>
              <a:t>lightgray</a:t>
            </a:r>
            <a:r>
              <a:rPr lang="en-GB" dirty="0"/>
              <a:t>", "</a:t>
            </a:r>
            <a:r>
              <a:rPr lang="en-GB" dirty="0" err="1"/>
              <a:t>darkgray</a:t>
            </a:r>
            <a:r>
              <a:rPr lang="en-GB" dirty="0"/>
              <a:t>", "</a:t>
            </a:r>
            <a:r>
              <a:rPr lang="en-GB" dirty="0" err="1"/>
              <a:t>gray</a:t>
            </a:r>
            <a:r>
              <a:rPr lang="en-GB" dirty="0"/>
              <a:t>"])</a:t>
            </a:r>
          </a:p>
        </p:txBody>
      </p:sp>
    </p:spTree>
    <p:extLst>
      <p:ext uri="{BB962C8B-B14F-4D97-AF65-F5344CB8AC3E}">
        <p14:creationId xmlns:p14="http://schemas.microsoft.com/office/powerpoint/2010/main" val="313975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FF1C8-66B5-116D-B3FD-ECD03271A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Scaling: Types of data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1FF08-87C2-37AA-8C7C-9EB5AD987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05/09/2026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FC4C0-77E5-BD1C-20F1-F71E5F306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383FA-D34F-FCA9-9F33-29676274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3584EE-2B9E-B53B-CAAB-E5DED4EA8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495" y="1561806"/>
            <a:ext cx="6697010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008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1C21A-E97C-AB5F-4313-0E2B227AF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scaling for quantitative data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D21F50-F530-B009-65A8-D84E0D346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d3.scaleLinear</a:t>
            </a:r>
          </a:p>
          <a:p>
            <a:r>
              <a:rPr lang="en-GB" dirty="0"/>
              <a:t>d3.scaleLog / d3.scalePow</a:t>
            </a:r>
          </a:p>
          <a:p>
            <a:r>
              <a:rPr lang="en-GB" dirty="0"/>
              <a:t>d3.scaleSequential</a:t>
            </a:r>
          </a:p>
          <a:p>
            <a:pPr lvl="1"/>
            <a:r>
              <a:rPr lang="en-GB" dirty="0"/>
              <a:t>Continuous colour scaling for sequential data (grey -&gt; red, etc.)</a:t>
            </a:r>
          </a:p>
          <a:p>
            <a:pPr lvl="1"/>
            <a:r>
              <a:rPr lang="en-GB" dirty="0"/>
              <a:t>Better results than abusing linear</a:t>
            </a:r>
          </a:p>
          <a:p>
            <a:r>
              <a:rPr lang="en-GB" dirty="0"/>
              <a:t>d3.scaleDiverging</a:t>
            </a:r>
          </a:p>
          <a:p>
            <a:pPr lvl="1"/>
            <a:r>
              <a:rPr lang="en-GB" dirty="0"/>
              <a:t>Continuous colour scaling for diverging data (blue -&gt; grey -&gt; red, etc.)</a:t>
            </a:r>
          </a:p>
          <a:p>
            <a:r>
              <a:rPr lang="en-GB" dirty="0"/>
              <a:t>d3.scaleQuantile / d3.scaleQuantize / d3.scaleThreshold </a:t>
            </a:r>
          </a:p>
          <a:p>
            <a:pPr lvl="1"/>
            <a:r>
              <a:rPr lang="en-GB" dirty="0"/>
              <a:t>Discrete colour scaling using binning the data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E0BAE-2EB6-E818-63A2-947C35838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04/09/2026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6E029-5556-8EFC-0D59-EB46FFAAF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8FE6C-7E35-0CF5-7D93-A1DA3CA2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745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1923E-D4A7-E6CE-6C9B-063E4F366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Quantile, quantize, and threshold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1D9E02-1B4F-6F39-6CF8-CBA44ADF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05/09/2026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D00F4-8495-543F-DB91-F68346A58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CD770-81A6-0C87-2DD1-792D80C6E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738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82DF91-2264-3928-80EE-8869914CA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scaling for ordinal and categorical data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991661-7BEE-7473-1829-40C374C06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d3.scaleOrdinal</a:t>
            </a:r>
          </a:p>
          <a:p>
            <a:pPr lvl="1"/>
            <a:r>
              <a:rPr lang="en-GB" dirty="0"/>
              <a:t>Manual 1-to-1 mapping of domain values to range values</a:t>
            </a:r>
          </a:p>
          <a:p>
            <a:r>
              <a:rPr lang="en-GB" dirty="0"/>
              <a:t>d3.scaleBand</a:t>
            </a:r>
          </a:p>
          <a:p>
            <a:pPr lvl="1"/>
            <a:r>
              <a:rPr lang="en-GB" dirty="0"/>
              <a:t>Mapping discrete domain values to </a:t>
            </a:r>
            <a:r>
              <a:rPr lang="en-GB" i="1" dirty="0"/>
              <a:t>intervals</a:t>
            </a:r>
            <a:r>
              <a:rPr lang="en-GB" dirty="0"/>
              <a:t> of range values</a:t>
            </a:r>
          </a:p>
          <a:p>
            <a:r>
              <a:rPr lang="en-GB" dirty="0"/>
              <a:t>d3.scalePoint</a:t>
            </a:r>
          </a:p>
          <a:p>
            <a:pPr lvl="1"/>
            <a:r>
              <a:rPr lang="en-GB" dirty="0"/>
              <a:t>Mapping discrete domain to equidistant range values</a:t>
            </a:r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A83E72-73C8-B95E-F2C5-9AA811518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05/09/2026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B7343-D787-67D7-FD46-FA8D85A7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F581F-5EE8-616F-3EF0-C6311D0C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848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AD7BD-32DC-CF86-E761-F2E38D931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7502E-C9F6-E2C5-E915-A44629756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Band scaling (1)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05054-71B8-621B-5F45-AD2524E3F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6E4093-7D3B-46F0-B134-FA1D41D0750C}" type="datetime1">
              <a:rPr lang="en-GB" smtClean="0"/>
              <a:t>05/09/2026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29D2EB-B4F2-BF78-A63C-6918D6AB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6EDD7-2643-0B12-591E-15A8E218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23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0E3FBE-BA83-DA40-9E88-892646E9A9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ageGroupScale</a:t>
            </a:r>
            <a:r>
              <a:rPr lang="en-GB" dirty="0"/>
              <a:t> = </a:t>
            </a:r>
          </a:p>
          <a:p>
            <a:pPr>
              <a:spcBef>
                <a:spcPts val="600"/>
              </a:spcBef>
            </a:pPr>
            <a:r>
              <a:rPr lang="en-GB" dirty="0"/>
              <a:t>  d3.scaleBand()</a:t>
            </a:r>
          </a:p>
          <a:p>
            <a:pPr>
              <a:spcBef>
                <a:spcPts val="600"/>
              </a:spcBef>
            </a:pPr>
            <a:r>
              <a:rPr lang="en-GB" dirty="0"/>
              <a:t>    .domain(</a:t>
            </a:r>
            <a:r>
              <a:rPr lang="en-GB" dirty="0" err="1"/>
              <a:t>ageGroups</a:t>
            </a:r>
            <a:r>
              <a:rPr lang="en-GB" dirty="0"/>
              <a:t>)</a:t>
            </a:r>
          </a:p>
          <a:p>
            <a:pPr>
              <a:spcBef>
                <a:spcPts val="600"/>
              </a:spcBef>
            </a:pPr>
            <a:r>
              <a:rPr lang="en-GB" dirty="0"/>
              <a:t>    .range([100, 500])</a:t>
            </a:r>
          </a:p>
          <a:p>
            <a:pPr>
              <a:spcBef>
                <a:spcPts val="600"/>
              </a:spcBef>
            </a:pPr>
            <a:r>
              <a:rPr lang="en-GB" dirty="0"/>
              <a:t>    .padding(0.2)</a:t>
            </a:r>
          </a:p>
          <a:p>
            <a:pPr>
              <a:spcBef>
                <a:spcPts val="600"/>
              </a:spcBef>
            </a:pPr>
            <a:br>
              <a:rPr lang="en-GB" dirty="0"/>
            </a:b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38A658-5633-540E-BB92-37CFDAB41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7" y="1690688"/>
            <a:ext cx="5290625" cy="41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98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1EC1B-F7F8-2623-B85D-4250CF890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F6878A-75BA-792A-8F01-4B4F9EE3B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1690688"/>
            <a:ext cx="9263708" cy="46656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A4D9AB-B6CA-BCD3-468F-2B04E5878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Band scaling (2)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E43A2-341E-288D-31CF-5EEB18EB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6E4093-7D3B-46F0-B134-FA1D41D0750C}" type="datetime1">
              <a:rPr lang="en-GB" smtClean="0"/>
              <a:t>05/09/2026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601E2-F586-FE57-4146-8E72B4404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BD366B-66F4-421B-8805-7B9C286AB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24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DC217E-9B71-2FC5-A6ED-B421B7598B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ageGroupScale</a:t>
            </a:r>
            <a:r>
              <a:rPr lang="en-GB" dirty="0"/>
              <a:t> = </a:t>
            </a:r>
          </a:p>
          <a:p>
            <a:pPr>
              <a:spcBef>
                <a:spcPts val="600"/>
              </a:spcBef>
            </a:pPr>
            <a:r>
              <a:rPr lang="en-GB" dirty="0"/>
              <a:t>  d3.scaleBand()</a:t>
            </a:r>
          </a:p>
          <a:p>
            <a:pPr>
              <a:spcBef>
                <a:spcPts val="600"/>
              </a:spcBef>
            </a:pPr>
            <a:r>
              <a:rPr lang="en-GB" dirty="0"/>
              <a:t>    .domain(</a:t>
            </a:r>
            <a:r>
              <a:rPr lang="en-GB" dirty="0" err="1"/>
              <a:t>ageGroups</a:t>
            </a:r>
            <a:r>
              <a:rPr lang="en-GB" dirty="0"/>
              <a:t>)</a:t>
            </a:r>
          </a:p>
          <a:p>
            <a:pPr>
              <a:spcBef>
                <a:spcPts val="600"/>
              </a:spcBef>
            </a:pPr>
            <a:r>
              <a:rPr lang="en-GB" dirty="0"/>
              <a:t>    .range([100, 500])</a:t>
            </a:r>
          </a:p>
          <a:p>
            <a:pPr>
              <a:spcBef>
                <a:spcPts val="600"/>
              </a:spcBef>
            </a:pPr>
            <a:r>
              <a:rPr lang="en-GB" dirty="0"/>
              <a:t>    .padding(0.2)</a:t>
            </a:r>
          </a:p>
          <a:p>
            <a:pPr>
              <a:spcBef>
                <a:spcPts val="600"/>
              </a:spcBef>
            </a:pP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2263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E63BC-3751-E57C-405C-D8A20122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and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CD11B-8735-55A7-CC26-2B9297EE8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0C70F-F409-45F2-B875-4737A9BE8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941CB-621D-AACD-7F58-89A2B76A6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7F6F6-7C22-97E9-4E8F-4A514360E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702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1D91B-82DB-AC43-5B43-68270DF6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Discovering correlation: Scatterplot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8E7282-C100-D627-AF8A-B20EC3D2B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06/09/2026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B6F25-BA4F-003F-BCFD-05D91B94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4E9D9C-D655-10E9-A97B-77863F43E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A960E1-36BD-8E1B-E631-759D2DCD2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43" y="1690688"/>
            <a:ext cx="6373114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909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E4384-32FE-A2AA-ACEA-64079EDA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trends:</a:t>
            </a:r>
            <a:br>
              <a:rPr lang="en-GB" dirty="0"/>
            </a:br>
            <a:r>
              <a:rPr lang="en-GB" dirty="0"/>
              <a:t>Too much information buries the intent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89E5D-CF4B-903E-2E4A-43A362EE8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06/09/2026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5BAFF-2FBC-169E-BC7C-F3B2EF669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EADB7-7DAD-F158-6DEC-829FCD48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393B8F-E1DD-7FC2-BDFD-685E6C485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26" y="1840870"/>
            <a:ext cx="7144747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056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4A88-3CE3-EF25-E3CA-F87485C9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Discover trends: Bar Chart</a:t>
            </a:r>
            <a:br>
              <a:rPr lang="en-GB" dirty="0"/>
            </a:br>
            <a:r>
              <a:rPr lang="en-GB" dirty="0"/>
              <a:t>(But what about the colours?)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98B6B-BD3B-A992-7AD8-1098C9940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06/09/2026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B4A69-4D03-0CAF-0897-FBCC4A6BA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BD50A-F7E9-4DDF-66E3-1B2DA2C7B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0985F8-D8C8-F94F-0B90-936702FDE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68" y="1863079"/>
            <a:ext cx="7078063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812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75AB-E705-7FA1-95F0-CF2C854A0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Compare values: Bar Chart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6C247C-C513-089D-05E4-82C00042A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06/09/2026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E72DE0-6CBE-FFCB-1EDA-DF1446E83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D852C-EC84-8BE9-190D-73744175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82232E-5E28-D2DA-DD0A-13D8A47BC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302" y="1446631"/>
            <a:ext cx="6339395" cy="469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58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472DC62-9A69-0ACE-1F5D-1C06DC883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6547326" cy="45254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3CBC06-49C4-4DDC-6CE4-40DBC30C7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Gold-plating: Scrolling w/ fixed axis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038BB7-4824-538A-4302-3F0CFA2F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6E4093-7D3B-46F0-B134-FA1D41D0750C}" type="datetime1">
              <a:rPr lang="en-GB" smtClean="0"/>
              <a:t>05/09/2026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3EDEE-FEDF-3079-1210-1AB025391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F3646-D162-AB45-D673-3525E519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30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0E9ACD-3D65-5249-9E2E-E91D351173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39002" y="1801690"/>
            <a:ext cx="4114800" cy="4414472"/>
          </a:xfrm>
        </p:spPr>
        <p:txBody>
          <a:bodyPr>
            <a:normAutofit fontScale="55000" lnSpcReduction="20000"/>
          </a:bodyPr>
          <a:lstStyle/>
          <a:p>
            <a:endParaRPr lang="en-GB" dirty="0"/>
          </a:p>
          <a:p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axisSVG</a:t>
            </a:r>
            <a:r>
              <a:rPr lang="en-GB" dirty="0"/>
              <a:t> = </a:t>
            </a:r>
          </a:p>
          <a:p>
            <a:r>
              <a:rPr lang="en-GB" dirty="0"/>
              <a:t>  d3.select("#container")</a:t>
            </a:r>
          </a:p>
          <a:p>
            <a:r>
              <a:rPr lang="en-GB" dirty="0"/>
              <a:t>    .append("</a:t>
            </a:r>
            <a:r>
              <a:rPr lang="en-GB" dirty="0" err="1"/>
              <a:t>svg</a:t>
            </a:r>
            <a:r>
              <a:rPr lang="en-GB" dirty="0"/>
              <a:t>")</a:t>
            </a:r>
          </a:p>
          <a:p>
            <a:r>
              <a:rPr lang="en-GB" dirty="0"/>
              <a:t>    .</a:t>
            </a:r>
            <a:r>
              <a:rPr lang="en-GB" dirty="0" err="1"/>
              <a:t>attr</a:t>
            </a:r>
            <a:r>
              <a:rPr lang="en-GB" dirty="0"/>
              <a:t>("</a:t>
            </a:r>
            <a:r>
              <a:rPr lang="en-GB" dirty="0" err="1"/>
              <a:t>viewBox</a:t>
            </a:r>
            <a:r>
              <a:rPr lang="en-GB" dirty="0"/>
              <a:t>", "0 0 800 60")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svg</a:t>
            </a:r>
            <a:r>
              <a:rPr lang="en-GB" dirty="0"/>
              <a:t> = d3.select("#container")</a:t>
            </a:r>
          </a:p>
          <a:p>
            <a:r>
              <a:rPr lang="en-GB" dirty="0"/>
              <a:t>  .append("div")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("id", "</a:t>
            </a:r>
            <a:r>
              <a:rPr lang="en-GB" dirty="0" err="1"/>
              <a:t>barChartSVG</a:t>
            </a:r>
            <a:r>
              <a:rPr lang="en-GB" dirty="0"/>
              <a:t>")</a:t>
            </a:r>
          </a:p>
          <a:p>
            <a:r>
              <a:rPr lang="en-GB" dirty="0"/>
              <a:t>  .append("</a:t>
            </a:r>
            <a:r>
              <a:rPr lang="en-GB" dirty="0" err="1"/>
              <a:t>svg</a:t>
            </a:r>
            <a:r>
              <a:rPr lang="en-GB" dirty="0"/>
              <a:t>")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</a:t>
            </a:r>
            <a:r>
              <a:rPr lang="en-GB" dirty="0" err="1"/>
              <a:t>viewBox</a:t>
            </a:r>
            <a:r>
              <a:rPr lang="en-GB" dirty="0"/>
              <a:t>", "0 0 800 4000")</a:t>
            </a:r>
          </a:p>
          <a:p>
            <a:br>
              <a:rPr lang="en-GB" dirty="0"/>
            </a:b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000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8C534-D8B9-C8DB-16A2-32893BA6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3E954-DED7-80BD-9054-07FE94AE7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Try this on the Google Trends data</a:t>
            </a:r>
          </a:p>
          <a:p>
            <a:r>
              <a:rPr lang="en-GB" dirty="0"/>
              <a:t>Introduction to hand-in 1 @11:40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F2089-41F6-768F-DCC4-4DF135325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06/09/2026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C777C-CCEC-CCF6-9E3B-30266F329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1A883-FE90-8CAF-444C-247BDAD9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541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OIH</Template>
  <TotalTime>3220</TotalTime>
  <Words>1492</Words>
  <Application>Microsoft Office PowerPoint</Application>
  <PresentationFormat>Widescreen</PresentationFormat>
  <Paragraphs>291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Office Theme</vt:lpstr>
      <vt:lpstr>VIZ1, Session 2</vt:lpstr>
      <vt:lpstr>How did it go?</vt:lpstr>
      <vt:lpstr>The what, the why, and the how</vt:lpstr>
      <vt:lpstr>The What: Data types</vt:lpstr>
      <vt:lpstr>The What: Dataset types</vt:lpstr>
      <vt:lpstr>The What: Attribute types</vt:lpstr>
      <vt:lpstr>The Why</vt:lpstr>
      <vt:lpstr>The Why: Verbs and Nouns (incomplete)</vt:lpstr>
      <vt:lpstr>Table data: Keys and Values</vt:lpstr>
      <vt:lpstr>Example: Discover trends</vt:lpstr>
      <vt:lpstr>Example: Discover trends (cont'd)</vt:lpstr>
      <vt:lpstr>Example: Compare values</vt:lpstr>
      <vt:lpstr>Working with data</vt:lpstr>
      <vt:lpstr>Selection</vt:lpstr>
      <vt:lpstr>Binding</vt:lpstr>
      <vt:lpstr>Binding: Example</vt:lpstr>
      <vt:lpstr>Scaling (revisited)</vt:lpstr>
      <vt:lpstr>Scaling: Linear Scaling</vt:lpstr>
      <vt:lpstr>Scaling: Types of data</vt:lpstr>
      <vt:lpstr>Types of scaling for quantitative data</vt:lpstr>
      <vt:lpstr>Quantile, quantize, and threshold</vt:lpstr>
      <vt:lpstr>Types of scaling for ordinal and categorical data</vt:lpstr>
      <vt:lpstr>Band scaling (1)</vt:lpstr>
      <vt:lpstr>Band scaling (2)</vt:lpstr>
      <vt:lpstr>Examples and ideas</vt:lpstr>
      <vt:lpstr>Discovering correlation: Scatterplot</vt:lpstr>
      <vt:lpstr>Comparing trends: Too much information buries the intent</vt:lpstr>
      <vt:lpstr>Discover trends: Bar Chart (But what about the colours?)</vt:lpstr>
      <vt:lpstr>Compare values: Bar Chart</vt:lpstr>
      <vt:lpstr>Gold-plating: Scrolling w/ fixed axis</vt:lpstr>
      <vt:lpstr>Exercises</vt:lpstr>
    </vt:vector>
  </TitlesOfParts>
  <Company>VIA University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 Ildsgaard Hougaard (OIH) | VIA</dc:creator>
  <cp:lastModifiedBy>Ole Ildsgaard Hougaard (OIH) | VIA</cp:lastModifiedBy>
  <cp:revision>38</cp:revision>
  <dcterms:created xsi:type="dcterms:W3CDTF">2026-09-02T05:36:52Z</dcterms:created>
  <dcterms:modified xsi:type="dcterms:W3CDTF">2026-09-06T09:24:26Z</dcterms:modified>
</cp:coreProperties>
</file>