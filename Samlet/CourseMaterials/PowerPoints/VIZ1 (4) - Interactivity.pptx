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9/27/2026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27/09/2026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27/09/2026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27/09/2026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27/09/2026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explan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27/09/2026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4443D8-DF7D-DB0C-08BF-EB5FF74238E0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1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27/09/2026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27/09/2026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27/09/2026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27/09/2026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27/09/2026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27/09/2026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27/09/2026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27/09/2026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27/09/2026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27/09/2026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27/09/2026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3js.org/d3-ease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4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Interactivity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27/09/2026</a:t>
            </a:fld>
            <a:endParaRPr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2B90B-18E8-49D9-7837-D2F4A617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interaction?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E61C22-A4D1-4559-4B77-A733576C0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375824" y="1825625"/>
            <a:ext cx="544035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05367-AA85-0F10-6956-B5746D6B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D298A-E483-E632-9FA5-9985ED7D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6F802-107A-BA30-E5CD-CF5299ECA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40854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7B2B-793C-938D-F2FD-079549AE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interaction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DD65-5070-6ECE-3275-4014F600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usage situation?</a:t>
            </a:r>
          </a:p>
          <a:p>
            <a:pPr lvl="1"/>
            <a:r>
              <a:rPr lang="en-GB" dirty="0"/>
              <a:t>Repeated or one-time?</a:t>
            </a:r>
          </a:p>
          <a:p>
            <a:pPr lvl="1"/>
            <a:r>
              <a:rPr lang="en-GB" dirty="0"/>
              <a:t>Quick overview or deep contemplation?</a:t>
            </a:r>
          </a:p>
          <a:p>
            <a:pPr lvl="1"/>
            <a:r>
              <a:rPr lang="en-GB" dirty="0"/>
              <a:t>Mobile phone or large, mounted display?</a:t>
            </a:r>
          </a:p>
          <a:p>
            <a:r>
              <a:rPr lang="en-GB" dirty="0"/>
              <a:t>Who is the user?</a:t>
            </a:r>
          </a:p>
          <a:p>
            <a:pPr lvl="1"/>
            <a:r>
              <a:rPr lang="en-GB" dirty="0"/>
              <a:t>Tech-savvy or casual?</a:t>
            </a:r>
          </a:p>
          <a:p>
            <a:pPr lvl="1"/>
            <a:r>
              <a:rPr lang="en-GB" dirty="0"/>
              <a:t>How is the domain knowledge?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BD5E0-3EC2-EA5E-97E7-502A788AF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B3063-3C02-1086-5188-830AEA71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B69F5-1368-FCC0-D55A-E4688E66F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0674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1AAC1-A534-2618-6137-783EBE31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Kinds of interaction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89A0D-DA8B-A327-5F50-02103DC04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Selecting data</a:t>
            </a:r>
          </a:p>
          <a:p>
            <a:pPr lvl="1"/>
            <a:r>
              <a:rPr lang="en-GB" dirty="0"/>
              <a:t>Using click/tap or hover</a:t>
            </a:r>
          </a:p>
          <a:p>
            <a:pPr lvl="1"/>
            <a:r>
              <a:rPr lang="en-GB" dirty="0"/>
              <a:t>To display more information</a:t>
            </a:r>
          </a:p>
          <a:p>
            <a:pPr lvl="1"/>
            <a:r>
              <a:rPr lang="en-GB" dirty="0"/>
              <a:t>To change or add information</a:t>
            </a:r>
          </a:p>
          <a:p>
            <a:r>
              <a:rPr lang="en-GB" dirty="0"/>
              <a:t>Navigating data</a:t>
            </a:r>
          </a:p>
          <a:p>
            <a:pPr lvl="1"/>
            <a:r>
              <a:rPr lang="en-GB" dirty="0"/>
              <a:t>Filtering</a:t>
            </a:r>
          </a:p>
          <a:p>
            <a:pPr lvl="1"/>
            <a:r>
              <a:rPr lang="en-GB" dirty="0"/>
              <a:t>Zooming</a:t>
            </a:r>
          </a:p>
          <a:p>
            <a:pPr lvl="2"/>
            <a:r>
              <a:rPr lang="en-GB" dirty="0"/>
              <a:t>Geometric</a:t>
            </a:r>
          </a:p>
          <a:p>
            <a:pPr lvl="2"/>
            <a:r>
              <a:rPr lang="en-GB" dirty="0"/>
              <a:t>Semantic</a:t>
            </a:r>
          </a:p>
          <a:p>
            <a:pPr lvl="1"/>
            <a:r>
              <a:rPr lang="en-GB" dirty="0"/>
              <a:t>Aggregation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E8872-733D-604F-C7CD-BF4CAF423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15D9E-09A1-247A-B03A-48E7E9443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247A5-F8F9-17DA-9751-1B0ABBB79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74236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26C5-E85E-2859-D2E2-7CE4076D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Example: Selecting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D0F2F8B-0E14-27EC-963B-1D68251DE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71510" y="1825625"/>
            <a:ext cx="8248980" cy="4351338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F711-063A-D7EF-0056-6848CC0CB3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8183B9-126C-4932-94BE-502505D2BD01}" type="datetime1">
              <a:rPr lang="en-GB" smtClean="0"/>
              <a:pPr>
                <a:spcAft>
                  <a:spcPts val="600"/>
                </a:spcAft>
                <a:defRPr/>
              </a:pPr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A3E07-9EC4-4B85-C5F1-48AAC0E3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C63DB-3B03-72F1-8708-FFD49103A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F49D356-B6C6-4BB6-8D42-BECF83CAE2C9}" type="slidenum">
              <a:rPr lang="en-DK" smtClean="0"/>
              <a:pPr>
                <a:spcAft>
                  <a:spcPts val="600"/>
                </a:spcAft>
                <a:defRPr/>
              </a:pPr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9065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17408-4B91-D414-2581-C0BF726F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5BB2-AFD3-0A73-1AC0-F662CF474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Example: Selecting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04778-8418-7752-BAF2-83535EDD7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0B8183B9-126C-4932-94BE-502505D2BD01}" type="datetime1">
              <a:rPr lang="en-GB" smtClean="0"/>
              <a:pPr>
                <a:spcAft>
                  <a:spcPts val="600"/>
                </a:spcAft>
                <a:defRPr/>
              </a:pPr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BCF6-140E-AFDE-681C-BB6D2BF57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D4390-6269-6F00-601E-07A078378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4F49D356-B6C6-4BB6-8D42-BECF83CAE2C9}" type="slidenum">
              <a:rPr lang="en-DK" smtClean="0"/>
              <a:pPr>
                <a:spcAft>
                  <a:spcPts val="600"/>
                </a:spcAft>
                <a:defRPr/>
              </a:pPr>
              <a:t>6</a:t>
            </a:fld>
            <a:endParaRPr lang="en-DK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A3DF217-FFC0-EFD6-4073-AC805FC41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22596" y="1825625"/>
            <a:ext cx="87468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04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7417-68D7-7197-34DB-B1F3068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Filtering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B60BC64-6F8D-658C-AC55-D518CD303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800669" y="1825625"/>
            <a:ext cx="8590661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45580-35A8-7C50-953F-0D9855AA1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7D82-893E-1AB9-2A52-74E49867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46EB-6EF5-2334-4BF2-71852CED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72763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9C00A-1E71-985D-A9A0-F4F1DC034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AAAD-4E6C-9A7C-C55F-EF83A888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Filtering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86F6D-A226-32E7-9E48-42030BBF3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B6FCD-19EF-45BB-8F1F-0A60CBA7F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06270-E1C2-04D0-6DD5-09133D82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8</a:t>
            </a:fld>
            <a:endParaRPr lang="en-DK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1CC6C92-77D6-D860-88EB-03A21326A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75492" y="1825625"/>
            <a:ext cx="86410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54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E8FC9-349D-CE08-85B0-291FFB07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Interaction: The Model-View-Update pattern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047E2-2732-53A5-54E2-14CB9553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BEBB2-8889-48D2-5C7C-A67CD6D5A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E08AA-3CA7-FBC9-635D-26602281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18359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4EB2-4B19-4E0E-F4F3-91355EF7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Model, DOM and Viz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9E266-A8A8-8E3C-1114-337D065A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The state of the app consists of three elements:</a:t>
            </a:r>
          </a:p>
          <a:p>
            <a:r>
              <a:rPr lang="en-GB" dirty="0"/>
              <a:t>Model</a:t>
            </a:r>
          </a:p>
          <a:p>
            <a:pPr lvl="1"/>
            <a:r>
              <a:rPr lang="en-GB" dirty="0"/>
              <a:t>The data you need to visualize</a:t>
            </a:r>
          </a:p>
          <a:p>
            <a:pPr lvl="1"/>
            <a:r>
              <a:rPr lang="en-GB" dirty="0"/>
              <a:t>Pre-processed, aggregated, sorted, …</a:t>
            </a:r>
          </a:p>
          <a:p>
            <a:r>
              <a:rPr lang="en-GB" dirty="0"/>
              <a:t>DOM</a:t>
            </a:r>
          </a:p>
          <a:p>
            <a:pPr lvl="1"/>
            <a:r>
              <a:rPr lang="en-GB" dirty="0"/>
              <a:t>References to the (SVG) elements where you visualize</a:t>
            </a:r>
          </a:p>
          <a:p>
            <a:pPr lvl="1"/>
            <a:r>
              <a:rPr lang="en-GB" dirty="0"/>
              <a:t>To avoid having to look them up by id or class</a:t>
            </a:r>
          </a:p>
          <a:p>
            <a:r>
              <a:rPr lang="en-GB" dirty="0"/>
              <a:t>Viz</a:t>
            </a:r>
          </a:p>
          <a:p>
            <a:pPr lvl="1"/>
            <a:r>
              <a:rPr lang="en-GB" dirty="0"/>
              <a:t>Scales</a:t>
            </a:r>
          </a:p>
          <a:p>
            <a:pPr lvl="1"/>
            <a:r>
              <a:rPr lang="en-GB" dirty="0"/>
              <a:t>Stacks</a:t>
            </a:r>
          </a:p>
          <a:p>
            <a:pPr lvl="1"/>
            <a:r>
              <a:rPr lang="en-GB" dirty="0"/>
              <a:t>Area generators</a:t>
            </a:r>
          </a:p>
          <a:p>
            <a:pPr lvl="1"/>
            <a:r>
              <a:rPr lang="en-GB" dirty="0"/>
              <a:t>…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A896-7BAA-9918-28F5-875E8BF6C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966FF-391A-0306-7484-797812F3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1C96A-4E53-0233-BBBE-4314D290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2970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F534-422C-67F5-9DF6-3F1603F43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the state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3EE45-5F5B-862A-CA23-CD9531D6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40F23-82CC-F7CB-8CA5-5653BB1D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9FD5E-D39C-02CC-38BE-8E0BA204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11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ACC045-994E-AB1B-FC9B-0563498840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68696" y="1825625"/>
            <a:ext cx="6208776" cy="441447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" sz="2000" dirty="0"/>
              <a:t>const model = createModel(await loadData())</a:t>
            </a:r>
          </a:p>
          <a:p>
            <a:pPr>
              <a:spcBef>
                <a:spcPts val="0"/>
              </a:spcBef>
            </a:pPr>
            <a:r>
              <a:rPr lang="" sz="2000" dirty="0"/>
              <a:t>const dom = createDOM(model)</a:t>
            </a:r>
          </a:p>
          <a:p>
            <a:pPr>
              <a:spcBef>
                <a:spcPts val="0"/>
              </a:spcBef>
            </a:pPr>
            <a:r>
              <a:rPr lang="" sz="2000" dirty="0"/>
              <a:t>const viz = createViz(model)</a:t>
            </a:r>
          </a:p>
          <a:p>
            <a:pPr>
              <a:spcBef>
                <a:spcPts val="0"/>
              </a:spcBef>
            </a:pPr>
            <a:endParaRPr lang="" sz="2000" dirty="0"/>
          </a:p>
          <a:p>
            <a:pPr>
              <a:spcBef>
                <a:spcPts val="0"/>
              </a:spcBef>
            </a:pPr>
            <a:r>
              <a:rPr lang="" sz="2000" dirty="0"/>
              <a:t>const state = {</a:t>
            </a:r>
          </a:p>
          <a:p>
            <a:pPr>
              <a:spcBef>
                <a:spcPts val="0"/>
              </a:spcBef>
            </a:pPr>
            <a:r>
              <a:rPr lang="" sz="2000" dirty="0"/>
              <a:t>  model, dom, viz,</a:t>
            </a:r>
          </a:p>
          <a:p>
            <a:pPr>
              <a:spcBef>
                <a:spcPts val="0"/>
              </a:spcBef>
            </a:pPr>
            <a:r>
              <a:rPr lang="" sz="2000" dirty="0"/>
              <a:t>  update(patch) {</a:t>
            </a:r>
          </a:p>
          <a:p>
            <a:pPr>
              <a:spcBef>
                <a:spcPts val="0"/>
              </a:spcBef>
            </a:pPr>
            <a:r>
              <a:rPr lang="" sz="2000" dirty="0"/>
              <a:t>    state.model = </a:t>
            </a:r>
          </a:p>
          <a:p>
            <a:pPr>
              <a:spcBef>
                <a:spcPts val="0"/>
              </a:spcBef>
            </a:pPr>
            <a:r>
              <a:rPr lang="" sz="2000" dirty="0"/>
              <a:t>      {...state.model, ...patch}</a:t>
            </a:r>
          </a:p>
          <a:p>
            <a:pPr>
              <a:spcBef>
                <a:spcPts val="0"/>
              </a:spcBef>
            </a:pPr>
            <a:r>
              <a:rPr lang="" sz="2000" dirty="0"/>
              <a:t>    view(state)</a:t>
            </a:r>
          </a:p>
          <a:p>
            <a:pPr>
              <a:spcBef>
                <a:spcPts val="0"/>
              </a:spcBef>
            </a:pPr>
            <a:r>
              <a:rPr lang="" sz="2000" dirty="0"/>
              <a:t>  }</a:t>
            </a:r>
          </a:p>
          <a:p>
            <a:pPr>
              <a:spcBef>
                <a:spcPts val="0"/>
              </a:spcBef>
            </a:pPr>
            <a:r>
              <a:rPr lang="" sz="2000" dirty="0"/>
              <a:t>}</a:t>
            </a:r>
          </a:p>
          <a:p>
            <a:pPr>
              <a:spcBef>
                <a:spcPts val="0"/>
              </a:spcBef>
            </a:pPr>
            <a:r>
              <a:rPr lang="" sz="2000" dirty="0"/>
              <a:t>  </a:t>
            </a:r>
          </a:p>
          <a:p>
            <a:pPr>
              <a:spcBef>
                <a:spcPts val="0"/>
              </a:spcBef>
            </a:pPr>
            <a:r>
              <a:rPr lang="" sz="2000" dirty="0"/>
              <a:t>view(state)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85D66C4-1764-EEFD-037A-2C7D14F27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30496" cy="4351338"/>
          </a:xfrm>
        </p:spPr>
        <p:txBody>
          <a:bodyPr/>
          <a:lstStyle/>
          <a:p>
            <a:r>
              <a:rPr lang="en-GB" dirty="0"/>
              <a:t>You can also pass around model, </a:t>
            </a:r>
            <a:r>
              <a:rPr lang="en-GB" dirty="0" err="1"/>
              <a:t>dom</a:t>
            </a:r>
            <a:r>
              <a:rPr lang="en-GB" dirty="0"/>
              <a:t>, viz as individual variables</a:t>
            </a:r>
          </a:p>
          <a:p>
            <a:r>
              <a:rPr lang="en-GB" dirty="0"/>
              <a:t>The update method ensures that all functions work on the same state</a:t>
            </a:r>
          </a:p>
          <a:p>
            <a:r>
              <a:rPr lang="en-GB" dirty="0"/>
              <a:t>Note the use of </a:t>
            </a:r>
            <a:r>
              <a:rPr lang="en-GB" dirty="0" err="1"/>
              <a:t>state.model</a:t>
            </a:r>
            <a:r>
              <a:rPr lang="en-GB" dirty="0"/>
              <a:t> instead of </a:t>
            </a:r>
            <a:r>
              <a:rPr lang="en-GB" dirty="0" err="1"/>
              <a:t>this.model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995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179C4-DC32-3EBA-0E83-634D5C54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Code structure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6DE1-77C1-68C7-EBCD-48D306DCDE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 this example, events are handled in view</a:t>
            </a:r>
          </a:p>
          <a:p>
            <a:r>
              <a:rPr lang="en-GB" dirty="0"/>
              <a:t>You could also make a </a:t>
            </a:r>
            <a:r>
              <a:rPr lang="en-GB" dirty="0" err="1"/>
              <a:t>createEvents</a:t>
            </a:r>
            <a:r>
              <a:rPr lang="en-GB" dirty="0"/>
              <a:t> function</a:t>
            </a:r>
          </a:p>
          <a:p>
            <a:endParaRPr lang="en-GB" dirty="0"/>
          </a:p>
          <a:p>
            <a:r>
              <a:rPr lang="en-GB" dirty="0" err="1"/>
              <a:t>drawLegend</a:t>
            </a:r>
            <a:r>
              <a:rPr lang="en-GB" dirty="0"/>
              <a:t> is an example helper function called from view</a:t>
            </a:r>
          </a:p>
          <a:p>
            <a:r>
              <a:rPr lang="en-GB" dirty="0"/>
              <a:t>Note how it </a:t>
            </a:r>
            <a:r>
              <a:rPr lang="en-GB" dirty="0" err="1"/>
              <a:t>destructures</a:t>
            </a:r>
            <a:r>
              <a:rPr lang="en-GB" dirty="0"/>
              <a:t> the state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C728F-FA2C-EBBC-8D4E-1D5E4C4C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CDC6E-44DA-BF21-7718-0EB1EF324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A7F6B-AE33-05C1-F688-E03E9D643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12</a:t>
            </a:fld>
            <a:endParaRPr lang="en-DK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397BFD04-F8BC-B54B-C322-1218645C88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172200" y="1858718"/>
            <a:ext cx="5181600" cy="428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982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EF44-1182-DE23-257F-540CA77B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handlers</a:t>
            </a:r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F55F7-541F-5220-51CF-3E08EB94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27/09/2026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42CAB-1DF7-62A2-9433-5928FA14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CC26-9C34-E38A-8453-374229D51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13</a:t>
            </a:fld>
            <a:endParaRPr lang="en-DK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E196B85-5BDF-8644-5CF5-96DB2FB5044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" dirty="0"/>
              <a:t>legend</a:t>
            </a:r>
          </a:p>
          <a:p>
            <a:r>
              <a:rPr lang="" dirty="0"/>
              <a:t>  .selectAll("rect")</a:t>
            </a:r>
          </a:p>
          <a:p>
            <a:r>
              <a:rPr lang="" dirty="0"/>
              <a:t>  .data(d =&gt; d)</a:t>
            </a:r>
          </a:p>
          <a:p>
            <a:r>
              <a:rPr lang="" dirty="0"/>
              <a:t>  .join("rect")</a:t>
            </a:r>
          </a:p>
          <a:p>
            <a:r>
              <a:rPr lang="" dirty="0"/>
              <a:t>  /* attributes */</a:t>
            </a:r>
          </a:p>
          <a:p>
            <a:r>
              <a:rPr lang="" dirty="0"/>
              <a:t>  .on('click', (e, d) =&gt; {</a:t>
            </a:r>
          </a:p>
          <a:p>
            <a:r>
              <a:rPr lang="" dirty="0"/>
              <a:t>    update(/* patch */)</a:t>
            </a:r>
          </a:p>
          <a:p>
            <a:r>
              <a:rPr lang="" dirty="0"/>
              <a:t>    e.stopPropagation()</a:t>
            </a:r>
          </a:p>
          <a:p>
            <a:r>
              <a:rPr lang="" dirty="0"/>
              <a:t>  })</a:t>
            </a:r>
          </a:p>
          <a:p>
            <a:br>
              <a:rPr lang="" dirty="0"/>
            </a:br>
            <a:endParaRPr lang="" dirty="0"/>
          </a:p>
          <a:p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D0BF39-9690-25CC-FE05-5DDD478B91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Not too different from </a:t>
            </a:r>
            <a:r>
              <a:rPr lang="en-GB" dirty="0" err="1"/>
              <a:t>addEventListener</a:t>
            </a:r>
            <a:endParaRPr lang="en-GB" dirty="0"/>
          </a:p>
          <a:p>
            <a:r>
              <a:rPr lang="en-GB" dirty="0"/>
              <a:t>But you also get the data attached to the element</a:t>
            </a:r>
          </a:p>
          <a:p>
            <a:r>
              <a:rPr lang="en-GB" dirty="0"/>
              <a:t>Remember that d3 attaches a __data__ property to all elements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08452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3B88A-CDF5-7067-9D62-9ED79D6C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Tip: Duplicated elements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78314-C9E3-3D68-60EB-7AB3D223F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51D01-C16D-AB09-F07E-8FC4D1D8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24F94-3722-A79C-7076-7A55FE35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14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226316-21D0-7BB4-B1CF-40A4C353BB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9801" y="1801690"/>
            <a:ext cx="5334002" cy="4414472"/>
          </a:xfrm>
        </p:spPr>
        <p:txBody>
          <a:bodyPr/>
          <a:lstStyle/>
          <a:p>
            <a:r>
              <a:rPr lang="" dirty="0"/>
              <a:t>svg.selectAll("#legend")</a:t>
            </a:r>
          </a:p>
          <a:p>
            <a:r>
              <a:rPr lang="" dirty="0"/>
              <a:t>  .data([whoRegions])</a:t>
            </a:r>
          </a:p>
          <a:p>
            <a:r>
              <a:rPr lang="" dirty="0"/>
              <a:t>  .join("g")</a:t>
            </a:r>
          </a:p>
          <a:p>
            <a:r>
              <a:rPr lang="" dirty="0"/>
              <a:t>  .attr("id", "legend")</a:t>
            </a:r>
          </a:p>
          <a:p>
            <a:r>
              <a:rPr lang="" dirty="0"/>
              <a:t>  .attr("transform", </a:t>
            </a:r>
          </a:p>
          <a:p>
            <a:r>
              <a:rPr lang="" dirty="0"/>
              <a:t>    "translate(600, 100)")</a:t>
            </a:r>
          </a:p>
          <a:p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FB53E8-2828-ED66-0EDD-C6D82FBB3B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Beware of calling </a:t>
            </a:r>
            <a:r>
              <a:rPr lang="en-GB" dirty="0" err="1"/>
              <a:t>svg.append</a:t>
            </a:r>
            <a:r>
              <a:rPr lang="en-GB" dirty="0"/>
              <a:t>() after every user interaction</a:t>
            </a:r>
          </a:p>
          <a:p>
            <a:pPr lvl="1"/>
            <a:r>
              <a:rPr lang="en-GB" dirty="0"/>
              <a:t>It will duplicate the elements</a:t>
            </a:r>
          </a:p>
          <a:p>
            <a:r>
              <a:rPr lang="en-GB" dirty="0"/>
              <a:t>Either:</a:t>
            </a:r>
          </a:p>
          <a:p>
            <a:pPr lvl="1"/>
            <a:r>
              <a:rPr lang="en-GB" dirty="0"/>
              <a:t>Create the element once in </a:t>
            </a:r>
            <a:r>
              <a:rPr lang="en-GB" dirty="0" err="1"/>
              <a:t>createDOM</a:t>
            </a:r>
            <a:endParaRPr lang="en-GB" dirty="0"/>
          </a:p>
          <a:p>
            <a:r>
              <a:rPr lang="en-GB" dirty="0"/>
              <a:t>Or:</a:t>
            </a:r>
          </a:p>
          <a:p>
            <a:pPr lvl="1"/>
            <a:r>
              <a:rPr lang="en-GB" dirty="0"/>
              <a:t>Use a data join (right)</a:t>
            </a:r>
          </a:p>
          <a:p>
            <a:pPr lvl="1"/>
            <a:r>
              <a:rPr lang="en-GB" dirty="0"/>
              <a:t>Note the singleton array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160544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E430495-38BB-DE03-34E6-986FAE43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Transitions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3157B4-F2B0-7B37-B6B0-85DC1C3DD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Small animations to get from one visualization to the next</a:t>
            </a:r>
          </a:p>
          <a:p>
            <a:pPr lvl="1"/>
            <a:r>
              <a:rPr lang="en-GB" dirty="0"/>
              <a:t>Fade-in/out</a:t>
            </a:r>
          </a:p>
          <a:p>
            <a:pPr lvl="1"/>
            <a:r>
              <a:rPr lang="en-GB" dirty="0"/>
              <a:t>Grow/shrink</a:t>
            </a:r>
          </a:p>
          <a:p>
            <a:pPr lvl="1"/>
            <a:r>
              <a:rPr lang="en-GB" dirty="0"/>
              <a:t>Move</a:t>
            </a:r>
          </a:p>
          <a:p>
            <a:r>
              <a:rPr lang="en-GB" dirty="0"/>
              <a:t>Bringing attention to the change</a:t>
            </a:r>
          </a:p>
          <a:p>
            <a:r>
              <a:rPr lang="en-GB" dirty="0"/>
              <a:t>Helping track the change</a:t>
            </a:r>
          </a:p>
          <a:p>
            <a:pPr lvl="1"/>
            <a:r>
              <a:rPr lang="en-GB" dirty="0"/>
              <a:t>Eyes beats memory</a:t>
            </a:r>
          </a:p>
          <a:p>
            <a:r>
              <a:rPr lang="en-GB" dirty="0"/>
              <a:t>Giving a “sleeker” look</a:t>
            </a:r>
          </a:p>
          <a:p>
            <a:pPr lvl="1"/>
            <a:r>
              <a:rPr lang="en-GB" dirty="0"/>
              <a:t>Beware of distracting the user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CE359D-8F2F-3061-656E-BB4D6A43A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D1656-17DC-2EBC-9298-4192B0FD1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9A6D2-48C7-D96C-6BD6-1C9E8857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7657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12A8-D9C7-3FD5-8D2B-6D3D86B5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Transition, duration, ease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6F301-9BD0-712B-F201-7C92F56B4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36E4093-7D3B-46F0-B134-FA1D41D0750C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81CBC-59D8-9726-79F1-D93DDA899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11D85-6064-83D6-217D-68EE35C30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16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AD964F-4DA0-8FD2-B19F-EBC2405542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2745" y="1801690"/>
            <a:ext cx="5742432" cy="4414472"/>
          </a:xfrm>
        </p:spPr>
        <p:txBody>
          <a:bodyPr>
            <a:normAutofit/>
          </a:bodyPr>
          <a:lstStyle/>
          <a:p>
            <a:r>
              <a:rPr lang="" dirty="0"/>
              <a:t>dom.toolTip</a:t>
            </a:r>
          </a:p>
          <a:p>
            <a:r>
              <a:rPr lang="" dirty="0"/>
              <a:t>  .attr('transform’, </a:t>
            </a:r>
          </a:p>
          <a:p>
            <a:r>
              <a:rPr lang="" dirty="0"/>
              <a:t>    `translate(${x}, ${y})`)</a:t>
            </a:r>
          </a:p>
          <a:p>
            <a:r>
              <a:rPr lang="" dirty="0"/>
              <a:t>  .transition()</a:t>
            </a:r>
          </a:p>
          <a:p>
            <a:r>
              <a:rPr lang="" dirty="0"/>
              <a:t>  .duration(150)</a:t>
            </a:r>
          </a:p>
          <a:p>
            <a:r>
              <a:rPr lang="" dirty="0"/>
              <a:t>  .ease(d3.easeQuadOut)</a:t>
            </a:r>
          </a:p>
          <a:p>
            <a:r>
              <a:rPr lang="" dirty="0"/>
              <a:t>  .style('opacity', 1)</a:t>
            </a:r>
          </a:p>
          <a:p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2B9F5D-A4BC-A891-90F0-D603AF24FD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95088" cy="4351338"/>
          </a:xfrm>
        </p:spPr>
        <p:txBody>
          <a:bodyPr/>
          <a:lstStyle/>
          <a:p>
            <a:r>
              <a:rPr lang="en-GB" dirty="0"/>
              <a:t>Transition: </a:t>
            </a:r>
          </a:p>
          <a:p>
            <a:pPr lvl="1"/>
            <a:r>
              <a:rPr lang="en-GB" dirty="0"/>
              <a:t>The </a:t>
            </a:r>
            <a:r>
              <a:rPr lang="en-GB" i="1" dirty="0"/>
              <a:t>following</a:t>
            </a:r>
            <a:r>
              <a:rPr lang="en-GB" dirty="0"/>
              <a:t> changes should be gradual</a:t>
            </a:r>
          </a:p>
          <a:p>
            <a:pPr lvl="1"/>
            <a:r>
              <a:rPr lang="en-GB" dirty="0"/>
              <a:t>Opacity, not translate</a:t>
            </a:r>
          </a:p>
          <a:p>
            <a:r>
              <a:rPr lang="en-GB" dirty="0"/>
              <a:t>Duration</a:t>
            </a:r>
          </a:p>
          <a:p>
            <a:pPr lvl="1"/>
            <a:r>
              <a:rPr lang="en-GB" dirty="0"/>
              <a:t>The length of the transition in milliseconds (default 250)</a:t>
            </a:r>
          </a:p>
          <a:p>
            <a:r>
              <a:rPr lang="en-GB" dirty="0"/>
              <a:t>Ease</a:t>
            </a:r>
          </a:p>
          <a:p>
            <a:pPr lvl="1"/>
            <a:r>
              <a:rPr lang="en-GB" dirty="0"/>
              <a:t>How the transition should move through time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24442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776B-33D6-CE8A-20A4-90B82355F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Ease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4DBE0-9650-7B76-F802-600496213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Describe how fast the transition goes at different times</a:t>
            </a:r>
          </a:p>
          <a:p>
            <a:r>
              <a:rPr lang="en-GB" dirty="0" err="1"/>
              <a:t>easeLinear</a:t>
            </a:r>
            <a:endParaRPr lang="en-GB" dirty="0"/>
          </a:p>
          <a:p>
            <a:pPr lvl="1"/>
            <a:r>
              <a:rPr lang="en-GB" dirty="0"/>
              <a:t>(Default) The transitions always moves at same speed</a:t>
            </a:r>
          </a:p>
          <a:p>
            <a:pPr lvl="1"/>
            <a:r>
              <a:rPr lang="en-GB" dirty="0"/>
              <a:t>Can seem abrupt</a:t>
            </a:r>
          </a:p>
          <a:p>
            <a:r>
              <a:rPr lang="en-GB" dirty="0" err="1"/>
              <a:t>easeQuadIn</a:t>
            </a:r>
            <a:r>
              <a:rPr lang="en-GB" dirty="0"/>
              <a:t> / </a:t>
            </a:r>
            <a:r>
              <a:rPr lang="en-GB" dirty="0" err="1"/>
              <a:t>easeCubicIn</a:t>
            </a:r>
            <a:endParaRPr lang="en-GB" dirty="0"/>
          </a:p>
          <a:p>
            <a:pPr lvl="1"/>
            <a:r>
              <a:rPr lang="en-GB" dirty="0"/>
              <a:t>Moves slowly first, then faster</a:t>
            </a:r>
          </a:p>
          <a:p>
            <a:pPr lvl="1"/>
            <a:r>
              <a:rPr lang="en-GB" dirty="0"/>
              <a:t>Grabs attention, then shows the transition</a:t>
            </a:r>
          </a:p>
          <a:p>
            <a:r>
              <a:rPr lang="en-GB" dirty="0" err="1"/>
              <a:t>easeQuadOut</a:t>
            </a:r>
            <a:r>
              <a:rPr lang="en-GB" dirty="0"/>
              <a:t> / </a:t>
            </a:r>
            <a:r>
              <a:rPr lang="en-GB" dirty="0" err="1"/>
              <a:t>easeCubicOut</a:t>
            </a:r>
            <a:endParaRPr lang="en-GB" dirty="0"/>
          </a:p>
          <a:p>
            <a:pPr lvl="1"/>
            <a:r>
              <a:rPr lang="en-GB" dirty="0"/>
              <a:t>Opposite of </a:t>
            </a:r>
            <a:r>
              <a:rPr lang="en-GB" dirty="0" err="1"/>
              <a:t>easeQuadIn</a:t>
            </a:r>
            <a:endParaRPr lang="en-GB" dirty="0"/>
          </a:p>
          <a:p>
            <a:pPr lvl="1"/>
            <a:r>
              <a:rPr lang="en-GB" dirty="0"/>
              <a:t>Shows the information quickly with a softer finish</a:t>
            </a:r>
          </a:p>
          <a:p>
            <a:r>
              <a:rPr lang="en-GB" dirty="0" err="1"/>
              <a:t>easeQuadInOut</a:t>
            </a:r>
            <a:r>
              <a:rPr lang="en-GB" dirty="0"/>
              <a:t> / ease </a:t>
            </a:r>
            <a:r>
              <a:rPr lang="en-GB" dirty="0" err="1"/>
              <a:t>CubicInOut</a:t>
            </a:r>
            <a:endParaRPr lang="en-GB" dirty="0"/>
          </a:p>
          <a:p>
            <a:pPr lvl="1"/>
            <a:r>
              <a:rPr lang="en-GB" dirty="0"/>
              <a:t>Seems like a “softer” </a:t>
            </a:r>
            <a:r>
              <a:rPr lang="en-GB" dirty="0" err="1"/>
              <a:t>easeLinear</a:t>
            </a:r>
            <a:endParaRPr lang="en-GB" dirty="0"/>
          </a:p>
          <a:p>
            <a:r>
              <a:rPr lang="en-GB" dirty="0"/>
              <a:t>See </a:t>
            </a:r>
            <a:r>
              <a:rPr lang="en-GB" dirty="0">
                <a:hlinkClick r:id="rId2"/>
              </a:rPr>
              <a:t>https://d3js.org/d3-ease</a:t>
            </a:r>
            <a:r>
              <a:rPr lang="en-GB" dirty="0"/>
              <a:t> 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12F70-2344-E0E0-1ED2-65801EC2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D305-4F0F-93F2-15F7-83F81D7F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A9329-6780-951B-7DC0-5D4E4D94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3250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80CC-A7BF-3751-52E5-8E2C9422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F6F0FD-D2DF-AB00-4DB3-A65E7E80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77BBB3-72E9-5023-874D-7C521618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26328-8EF5-2C60-10CF-C400A8E6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08085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CF47-BA2D-B45B-0B7E-3AE671B2E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Enter, update, exit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CC2D2-73EE-09A8-F981-22991344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C2301-ECD6-1912-95E7-A0C48826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AD97-B0C3-EDC9-04B2-67E48BA24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19</a:t>
            </a:fld>
            <a:endParaRPr lang="en-DK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469D73-E9F4-5A15-2B8C-12DD93FD98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1" y="1801690"/>
            <a:ext cx="5623559" cy="4414472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// 1)</a:t>
            </a:r>
          </a:p>
          <a:p>
            <a:r>
              <a:rPr lang="en-GB" sz="2400" dirty="0" err="1">
                <a:latin typeface="Consolas" panose="020B0609020204030204" pitchFamily="49" charset="0"/>
                <a:cs typeface="Courier New" panose="02070309020205020404" pitchFamily="49" charset="0"/>
              </a:rPr>
              <a:t>diagram.selectAll</a:t>
            </a:r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(“circle”)</a:t>
            </a:r>
            <a:b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  .data(d)</a:t>
            </a:r>
            <a:b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  .join(“circle”)</a:t>
            </a:r>
          </a:p>
          <a:p>
            <a:endParaRPr lang="en-GB" sz="2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  <a:cs typeface="Courier New" panose="02070309020205020404" pitchFamily="49" charset="0"/>
              </a:rPr>
              <a:t>// 2)</a:t>
            </a:r>
          </a:p>
          <a:p>
            <a:r>
              <a:rPr lang="en-GB" sz="2400" dirty="0" err="1">
                <a:latin typeface="Consolas" panose="020B0609020204030204" pitchFamily="49" charset="0"/>
              </a:rPr>
              <a:t>diagram.selectAll</a:t>
            </a:r>
            <a:r>
              <a:rPr lang="en-GB" sz="2400" dirty="0">
                <a:latin typeface="Consolas" panose="020B0609020204030204" pitchFamily="49" charset="0"/>
              </a:rPr>
              <a:t>(“circle”)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.data(d)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.join(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  enter =&gt; 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    </a:t>
            </a:r>
            <a:r>
              <a:rPr lang="en-GB" sz="2400" dirty="0" err="1">
                <a:latin typeface="Consolas" panose="020B0609020204030204" pitchFamily="49" charset="0"/>
              </a:rPr>
              <a:t>enter.append</a:t>
            </a:r>
            <a:r>
              <a:rPr lang="en-GB" sz="2400" dirty="0">
                <a:latin typeface="Consolas" panose="020B0609020204030204" pitchFamily="49" charset="0"/>
              </a:rPr>
              <a:t>(“circle”),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  update =&gt; update,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  exit =&gt; </a:t>
            </a:r>
            <a:br>
              <a:rPr lang="en-GB" sz="2400" dirty="0">
                <a:latin typeface="Consolas" panose="020B0609020204030204" pitchFamily="49" charset="0"/>
              </a:rPr>
            </a:br>
            <a:r>
              <a:rPr lang="en-GB" sz="2400" dirty="0">
                <a:latin typeface="Consolas" panose="020B0609020204030204" pitchFamily="49" charset="0"/>
              </a:rPr>
              <a:t>      </a:t>
            </a:r>
            <a:r>
              <a:rPr lang="en-GB" sz="2400" dirty="0" err="1">
                <a:latin typeface="Consolas" panose="020B0609020204030204" pitchFamily="49" charset="0"/>
              </a:rPr>
              <a:t>exit.remove</a:t>
            </a:r>
            <a:r>
              <a:rPr lang="en-GB" sz="2400" dirty="0">
                <a:latin typeface="Consolas" panose="020B0609020204030204" pitchFamily="49" charset="0"/>
              </a:rPr>
              <a:t>())</a:t>
            </a:r>
            <a:endParaRPr lang="LID4096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32E80-22A2-7C20-BA5B-EF8FFA2F2E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For finer control</a:t>
            </a:r>
          </a:p>
          <a:p>
            <a:r>
              <a:rPr lang="en-GB" dirty="0"/>
              <a:t>The code under 1)</a:t>
            </a:r>
          </a:p>
          <a:p>
            <a:r>
              <a:rPr lang="en-GB" dirty="0"/>
              <a:t>Really is the code under 2)</a:t>
            </a:r>
          </a:p>
          <a:p>
            <a:r>
              <a:rPr lang="en-GB" dirty="0"/>
              <a:t>Enter is the data added since last update</a:t>
            </a:r>
          </a:p>
          <a:p>
            <a:r>
              <a:rPr lang="en-GB" dirty="0"/>
              <a:t>Update is the changed data</a:t>
            </a:r>
          </a:p>
          <a:p>
            <a:r>
              <a:rPr lang="en-GB" dirty="0"/>
              <a:t>Exit is the data deleted since last update</a:t>
            </a:r>
            <a:br>
              <a:rPr lang="en-GB" dirty="0"/>
            </a:br>
            <a:endParaRPr lang="en-GB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258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6747D-B09C-4514-0D95-B9C2AA87E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Enter, update, exit example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452BE1-26B1-3DC8-0B13-92658CBB1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27/09/2026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E7E7C8-473E-A716-487E-A4875F35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96C71-0370-178C-E2D4-17AFE7366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20</a:t>
            </a:fld>
            <a:endParaRPr lang="en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666EF6-FD40-35EF-977F-2968D7B8AC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" dirty="0"/>
              <a:t>diagram.selectAll("circle")</a:t>
            </a:r>
          </a:p>
          <a:p>
            <a:r>
              <a:rPr lang="" dirty="0"/>
              <a:t>    .data(filteredData, d =&gt; d.key)</a:t>
            </a:r>
          </a:p>
          <a:p>
            <a:r>
              <a:rPr lang="" dirty="0"/>
              <a:t>    .join(</a:t>
            </a:r>
          </a:p>
          <a:p>
            <a:r>
              <a:rPr lang="" dirty="0"/>
              <a:t>      enter =&gt; enter.append("circle")</a:t>
            </a:r>
          </a:p>
          <a:p>
            <a:r>
              <a:rPr lang="" dirty="0"/>
              <a:t>        .style('opacity', 0)</a:t>
            </a:r>
          </a:p>
          <a:p>
            <a:r>
              <a:rPr lang="" dirty="0"/>
              <a:t>        .transition()</a:t>
            </a:r>
          </a:p>
          <a:p>
            <a:r>
              <a:rPr lang="" dirty="0"/>
              <a:t>        .style('opacity', 1),</a:t>
            </a:r>
          </a:p>
          <a:p>
            <a:r>
              <a:rPr lang="" dirty="0"/>
              <a:t>      update =&gt; update,</a:t>
            </a:r>
          </a:p>
          <a:p>
            <a:r>
              <a:rPr lang="" dirty="0"/>
              <a:t>      exit =&gt; exit</a:t>
            </a:r>
          </a:p>
          <a:p>
            <a:r>
              <a:rPr lang="" dirty="0"/>
              <a:t>        .transition()</a:t>
            </a:r>
          </a:p>
          <a:p>
            <a:r>
              <a:rPr lang="" dirty="0"/>
              <a:t>        .style('opacity', 0)</a:t>
            </a:r>
          </a:p>
          <a:p>
            <a:r>
              <a:rPr lang="" dirty="0"/>
              <a:t>        .remove())</a:t>
            </a:r>
          </a:p>
        </p:txBody>
      </p:sp>
    </p:spTree>
    <p:extLst>
      <p:ext uri="{BB962C8B-B14F-4D97-AF65-F5344CB8AC3E}">
        <p14:creationId xmlns:p14="http://schemas.microsoft.com/office/powerpoint/2010/main" val="3214382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C08FE-06E0-E6C0-A7A0-2D275F76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importance of the key function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03C9-5C83-3EDB-F78B-0F1AE4E63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JavaScript, 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{country: 'DK', age: 37} != {country: 'DK’, age: 37}</a:t>
            </a:r>
          </a:p>
          <a:p>
            <a:pPr lvl="1"/>
            <a:r>
              <a:rPr lang="en-GB" dirty="0"/>
              <a:t>There is no equals() method</a:t>
            </a:r>
          </a:p>
          <a:p>
            <a:r>
              <a:rPr lang="en-GB" dirty="0"/>
              <a:t>Enter, update and exit sets would be determined by array index</a:t>
            </a:r>
          </a:p>
          <a:p>
            <a:pPr lvl="1"/>
            <a:r>
              <a:rPr lang="en-GB" dirty="0"/>
              <a:t>This makes </a:t>
            </a:r>
            <a:r>
              <a:rPr lang="en-GB"/>
              <a:t>no sense</a:t>
            </a:r>
            <a:endParaRPr lang="en-GB" dirty="0"/>
          </a:p>
          <a:p>
            <a:r>
              <a:rPr lang="en-GB" dirty="0"/>
              <a:t>By adding a key function, you tell D3 how to identify data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5682F-F0EC-865E-A824-37014B51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2AF79-0682-6349-B0E0-87D6CD59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B8BB2-6A82-E608-C072-DAAC9C71B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74111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F0AD-B2CE-55CA-D798-D3F85E196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8DFDE-C900-5397-CEF4-3C3FF6FF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27/09/2026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D1AD4-309B-F73E-6F23-96B84235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CDC1-65C2-2505-BC78-C143FD8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684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B1C050D2-457E-4331-99AF-8A814FAF0A1D}" vid="{C5388104-6551-4CE6-8B29-5F2B17820F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404</TotalTime>
  <Words>1152</Words>
  <Application>Microsoft Office PowerPoint</Application>
  <PresentationFormat>Widescreen</PresentationFormat>
  <Paragraphs>232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Office Theme</vt:lpstr>
      <vt:lpstr>VIZ1, Session 4</vt:lpstr>
      <vt:lpstr>Why interaction?</vt:lpstr>
      <vt:lpstr>When to use interaction</vt:lpstr>
      <vt:lpstr>Kinds of interaction</vt:lpstr>
      <vt:lpstr>Example: Selecting</vt:lpstr>
      <vt:lpstr>Example: Selecting</vt:lpstr>
      <vt:lpstr>Example: Filtering</vt:lpstr>
      <vt:lpstr>Example: Filtering</vt:lpstr>
      <vt:lpstr>Interaction: The Model-View-Update pattern</vt:lpstr>
      <vt:lpstr>Model, DOM and Viz</vt:lpstr>
      <vt:lpstr>Creating the state</vt:lpstr>
      <vt:lpstr>Code structure</vt:lpstr>
      <vt:lpstr>Event handlers</vt:lpstr>
      <vt:lpstr>Tip: Duplicated elements</vt:lpstr>
      <vt:lpstr>Transitions</vt:lpstr>
      <vt:lpstr>Transition, duration, ease</vt:lpstr>
      <vt:lpstr>Ease</vt:lpstr>
      <vt:lpstr>Demo</vt:lpstr>
      <vt:lpstr>Enter, update, exit</vt:lpstr>
      <vt:lpstr>Enter, update, exit example</vt:lpstr>
      <vt:lpstr>The importance of the key function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40</cp:revision>
  <dcterms:created xsi:type="dcterms:W3CDTF">2026-09-27T07:02:05Z</dcterms:created>
  <dcterms:modified xsi:type="dcterms:W3CDTF">2026-09-27T13:47:00Z</dcterms:modified>
</cp:coreProperties>
</file>