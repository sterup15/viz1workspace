
<file path=[Content_Types].xml><?xml version="1.0" encoding="utf-8"?>
<Types xmlns="http://schemas.openxmlformats.org/package/2006/content-types">
  <Default Extension="gif" ContentType="image/gif"/>
  <Default Extension="jpg" ContentType="image/jpeg"/>
  <Default Extension="JtcgVhp5dZxJOXjGAQpTNQHaF8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63" r:id="rId3"/>
    <p:sldId id="266" r:id="rId4"/>
    <p:sldId id="267" r:id="rId5"/>
    <p:sldId id="272" r:id="rId6"/>
    <p:sldId id="270" r:id="rId7"/>
    <p:sldId id="269" r:id="rId8"/>
    <p:sldId id="271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</p:sldIdLst>
  <p:sldSz cx="12192000" cy="6858000"/>
  <p:notesSz cx="6858000" cy="9144000"/>
  <p:defaultTextStyle>
    <a:defPPr>
      <a:defRPr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236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30491737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FA0BE78-136C-4EB0-82F8-6F89320A54EA}" type="datetimeFigureOut">
              <a:rPr lang="en-US"/>
              <a:t>10/19/2026</a:t>
            </a:fld>
            <a:endParaRPr/>
          </a:p>
        </p:txBody>
      </p:sp>
      <p:sp>
        <p:nvSpPr>
          <p:cNvPr id="1686487674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8775658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80491112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14388210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615A648-1CE8-47C1-8D94-DC119F73BBF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384527B-780D-FBD0-37D3-F44CB21E4C2C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0697398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927197447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109266722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73392FD-379A-43EF-B521-645325000CC0}" type="datetime1">
              <a:rPr lang="en-GB"/>
              <a:t>19/10/2026</a:t>
            </a:fld>
            <a:endParaRPr/>
          </a:p>
        </p:txBody>
      </p:sp>
      <p:sp>
        <p:nvSpPr>
          <p:cNvPr id="119043884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60055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preserve="1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3398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47785082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197508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B8183B9-126C-4932-94BE-502505D2BD01}" type="datetime1">
              <a:rPr lang="en-GB"/>
              <a:t>19/10/2026</a:t>
            </a:fld>
            <a:endParaRPr/>
          </a:p>
        </p:txBody>
      </p:sp>
      <p:sp>
        <p:nvSpPr>
          <p:cNvPr id="11258737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8792912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295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088080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61C97FE-D1A0-4415-8424-9D0DD0C9B6F2}" type="datetime1">
              <a:rPr lang="en-GB"/>
              <a:t>19/10/2026</a:t>
            </a:fld>
            <a:endParaRPr/>
          </a:p>
        </p:txBody>
      </p:sp>
      <p:sp>
        <p:nvSpPr>
          <p:cNvPr id="11821953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20574252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877231443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36739"/>
            <a:ext cx="10515600" cy="437356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ide-by-side co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19/10/2026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03657387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8200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explana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206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04761992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36E4093-7D3B-46F0-B134-FA1D41D0750C}" type="datetime1">
              <a:rPr lang="en-GB"/>
              <a:t>19/10/2026</a:t>
            </a:fld>
            <a:endParaRPr/>
          </a:p>
        </p:txBody>
      </p:sp>
      <p:sp>
        <p:nvSpPr>
          <p:cNvPr id="87949126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31410026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643127892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201" y="1801690"/>
            <a:ext cx="5181601" cy="4414472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B4443D8-DF7D-DB0C-08BF-EB5FF74238E0}"/>
              </a:ext>
            </a:extLst>
          </p:cNvPr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614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de 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58788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391762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8317215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9508994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1935D3F-7175-495B-9EBA-23EFABDFFDE4}" type="datetime1">
              <a:rPr lang="en-GB"/>
              <a:t>19/10/2026</a:t>
            </a:fld>
            <a:endParaRPr/>
          </a:p>
        </p:txBody>
      </p:sp>
      <p:sp>
        <p:nvSpPr>
          <p:cNvPr id="151859484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0321131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  <p:sp>
        <p:nvSpPr>
          <p:cNvPr id="777220082" name="Text Placeholder 7"/>
          <p:cNvSpPr>
            <a:spLocks noGrp="1"/>
          </p:cNvSpPr>
          <p:nvPr>
            <p:ph type="body" sz="quarter" idx="13"/>
          </p:nvPr>
        </p:nvSpPr>
        <p:spPr bwMode="auto">
          <a:xfrm>
            <a:off x="837408" y="2516066"/>
            <a:ext cx="5157788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797850858" name="Text Placeholder 7"/>
          <p:cNvSpPr>
            <a:spLocks noGrp="1"/>
          </p:cNvSpPr>
          <p:nvPr>
            <p:ph type="body" sz="quarter" idx="14"/>
          </p:nvPr>
        </p:nvSpPr>
        <p:spPr bwMode="auto">
          <a:xfrm>
            <a:off x="6172993" y="2516066"/>
            <a:ext cx="5181601" cy="3728671"/>
          </a:xfrm>
        </p:spPr>
        <p:txBody>
          <a:bodyPr/>
          <a:lstStyle>
            <a:lvl1pPr marL="0" indent="0">
              <a:buNone/>
              <a:defRPr>
                <a:latin typeface="Consola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preserve="1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4394272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8491258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73865329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C1640DE-560F-49EC-947F-96B0BAAE894C}" type="datetime1">
              <a:rPr lang="en-GB"/>
              <a:t>19/10/2026</a:t>
            </a:fld>
            <a:endParaRPr/>
          </a:p>
        </p:txBody>
      </p:sp>
      <p:sp>
        <p:nvSpPr>
          <p:cNvPr id="530824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9559667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Obj" preserve="1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38667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50695850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7937217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9959715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7FFBE2-17ED-4487-A6AD-53E5CC708D51}" type="datetime1">
              <a:rPr lang="en-GB"/>
              <a:t>19/10/2026</a:t>
            </a:fld>
            <a:endParaRPr/>
          </a:p>
        </p:txBody>
      </p:sp>
      <p:sp>
        <p:nvSpPr>
          <p:cNvPr id="473479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0880977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preserve="1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737506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513803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30045767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1041337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19153070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5441696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8F46DC4-28AD-4138-B93F-56B62008EDF1}" type="datetime1">
              <a:rPr lang="en-GB"/>
              <a:t>19/10/2026</a:t>
            </a:fld>
            <a:endParaRPr/>
          </a:p>
        </p:txBody>
      </p:sp>
      <p:sp>
        <p:nvSpPr>
          <p:cNvPr id="120378695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54769400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preserve="1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45572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24200040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2637B48-7300-4AA3-A318-3DF410CB4F23}" type="datetime1">
              <a:rPr lang="en-GB"/>
              <a:t>19/10/2026</a:t>
            </a:fld>
            <a:endParaRPr/>
          </a:p>
        </p:txBody>
      </p:sp>
      <p:sp>
        <p:nvSpPr>
          <p:cNvPr id="128963932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47665451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112171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8DB52B6-2546-43FF-B3EF-41EE09B1A28D}" type="datetime1">
              <a:rPr lang="en-GB"/>
              <a:t>19/10/2026</a:t>
            </a:fld>
            <a:endParaRPr/>
          </a:p>
        </p:txBody>
      </p:sp>
      <p:sp>
        <p:nvSpPr>
          <p:cNvPr id="1890658179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85665317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preserve="1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376126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8857015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9969068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27035799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0D8BA3DE-D664-485B-A670-4F9846D9F00F}" type="datetime1">
              <a:rPr lang="en-GB"/>
              <a:t>19/10/2026</a:t>
            </a:fld>
            <a:endParaRPr/>
          </a:p>
        </p:txBody>
      </p:sp>
      <p:sp>
        <p:nvSpPr>
          <p:cNvPr id="171869080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014203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preserve="1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40929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363885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/>
          </a:p>
        </p:txBody>
      </p:sp>
      <p:sp>
        <p:nvSpPr>
          <p:cNvPr id="113294180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40699214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C998E3B-E64A-4693-A308-7951ECA79B15}" type="datetime1">
              <a:rPr lang="en-GB"/>
              <a:t>19/10/2026</a:t>
            </a:fld>
            <a:endParaRPr/>
          </a:p>
        </p:txBody>
      </p:sp>
      <p:sp>
        <p:nvSpPr>
          <p:cNvPr id="705068475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94902852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preserve="1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96049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602233911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19833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3836B53B-F8BB-43CD-B391-40C014116A36}" type="datetime1">
              <a:rPr lang="en-GB"/>
              <a:t>19/10/2026</a:t>
            </a:fld>
            <a:endParaRPr/>
          </a:p>
        </p:txBody>
      </p:sp>
      <p:sp>
        <p:nvSpPr>
          <p:cNvPr id="208553416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65352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preserve="1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47585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831198049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38147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81118B8D-3A7E-4793-8999-657BC3EF6574}" type="datetime1">
              <a:rPr lang="en-GB"/>
              <a:t>19/10/2026</a:t>
            </a:fld>
            <a:endParaRPr/>
          </a:p>
        </p:txBody>
      </p:sp>
      <p:sp>
        <p:nvSpPr>
          <p:cNvPr id="7789150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705610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51847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72397247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242150781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DA4C8AB-6B00-48F2-89BC-5CCAE9514F64}" type="datetime1">
              <a:rPr lang="en-GB"/>
              <a:t>19/10/2026</a:t>
            </a:fld>
            <a:endParaRPr/>
          </a:p>
        </p:txBody>
      </p:sp>
      <p:sp>
        <p:nvSpPr>
          <p:cNvPr id="1353248652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1147976381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F49D356-B6C6-4BB6-8D42-BECF83CAE2C9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3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/>
  <p:txStyles>
    <p:titleStyle>
      <a:lvl1pPr algn="l" defTabSz="914400" rtl="0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hangingPunct="1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hangingPunct="1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hangingPunct="1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pudding.cool/2024/10/nba-uniforms/" TargetMode="Externa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tcgVhp5dZxJOXjGAQpTNQHaF8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tcgVhp5dZxJOXjGAQpTNQHaF8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color-blindness.com/coblis-color-blindness-simulator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1173341" name="Titl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VIZ1, Session 6</a:t>
            </a:r>
            <a:endParaRPr dirty="0"/>
          </a:p>
        </p:txBody>
      </p:sp>
      <p:sp>
        <p:nvSpPr>
          <p:cNvPr id="456099254" name="Subtitle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GB" dirty="0"/>
              <a:t>Effective Communication in Visualizations</a:t>
            </a:r>
            <a:endParaRPr dirty="0"/>
          </a:p>
        </p:txBody>
      </p:sp>
      <p:sp>
        <p:nvSpPr>
          <p:cNvPr id="260260190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4A1FCB8-642A-4A5E-B6E8-4571E484A705}" type="datetime1">
              <a:rPr lang="en-GB"/>
              <a:t>19/10/2026</a:t>
            </a:fld>
            <a:endParaRPr/>
          </a:p>
        </p:txBody>
      </p:sp>
      <p:sp>
        <p:nvSpPr>
          <p:cNvPr id="730514835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  <a:endParaRPr/>
          </a:p>
        </p:txBody>
      </p:sp>
      <p:sp>
        <p:nvSpPr>
          <p:cNvPr id="442357318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F49D356-B6C6-4BB6-8D42-BECF83CAE2C9}" type="slidenum">
              <a:rPr/>
              <a:t>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/>
    </mc:Choice>
    <mc:Fallback xmlns:w="http://schemas.openxmlformats.org/wordprocessingml/2006/main" xmlns:m="http://schemas.openxmlformats.org/officeDocument/2006/math" xmlns=""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BA2E6-0D1B-2B5A-34C2-C4CBBB50C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what, the why, and </a:t>
            </a:r>
            <a:r>
              <a:rPr lang="en-GB"/>
              <a:t>the how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3D030-EFF6-7DDB-D494-964DB00C8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78E7D2-3EF9-C7A8-D70C-E6823409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92CF7-9FF8-EA5C-1138-653009E4A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2</a:t>
            </a:fld>
            <a:endParaRPr lang="en-GB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1FAF2A4-8BF6-E92C-D0DF-3CC06A47A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20888" y="1690688"/>
            <a:ext cx="4550224" cy="448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1019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E63D-B6F8-434F-74B6-E9C2A6F2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Marks and Channels (I)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46AB1-3D05-3973-F59B-8600A1742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Marks -  the base shapes</a:t>
            </a:r>
          </a:p>
          <a:p>
            <a:pPr lvl="1"/>
            <a:endParaRPr lang="en-GB" dirty="0"/>
          </a:p>
          <a:p>
            <a:pPr marL="457200" lvl="1" indent="0">
              <a:buNone/>
            </a:pPr>
            <a:endParaRPr lang="en-GB" dirty="0"/>
          </a:p>
          <a:p>
            <a:pPr lvl="1"/>
            <a:r>
              <a:rPr lang="en-GB" dirty="0"/>
              <a:t>0D: points</a:t>
            </a:r>
          </a:p>
          <a:p>
            <a:pPr lvl="1"/>
            <a:r>
              <a:rPr lang="en-GB" dirty="0"/>
              <a:t>1D: lines</a:t>
            </a:r>
          </a:p>
          <a:p>
            <a:pPr lvl="1"/>
            <a:r>
              <a:rPr lang="en-GB" dirty="0"/>
              <a:t>2D: areas – Squares, Circles, etc.</a:t>
            </a:r>
          </a:p>
          <a:p>
            <a:pPr lvl="1"/>
            <a:r>
              <a:rPr lang="en-GB" dirty="0"/>
              <a:t>3D: volumes (rarely)</a:t>
            </a:r>
          </a:p>
          <a:p>
            <a:r>
              <a:rPr lang="en-GB" dirty="0"/>
              <a:t>In D3.js, marks are encoded as SVG elements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4FB71-C787-BDB4-A7FC-B89A9A78D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D13F5-28DC-8DF5-2F35-A6790E51B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268295-02EB-9475-61E3-E53CF7A2A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GB" smtClean="0"/>
              <a:t>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F6CB98-BC19-090A-7274-0283259F9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2266844"/>
            <a:ext cx="6773220" cy="7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15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609A4-F796-EB71-6C1A-D9E817C5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Marks and Channels (II)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66907-E21E-9023-6D30-E20A1EC0F2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Controls the appearance of the marks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r>
              <a:rPr lang="en-GB" dirty="0"/>
              <a:t>In D3.js, marks are encoded as SVG attributes using scales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5C1C0-5771-E714-811B-AE42DE535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D35D-B69E-9128-2BFF-0DF368F07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7BF8F-5290-4AB6-33FF-D3AD0A666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4</a:t>
            </a:fld>
            <a:endParaRPr lang="en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6C312C7-6992-3BA3-42FA-A22B3B706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718" y="2214564"/>
            <a:ext cx="4415308" cy="2997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25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BBEE-FFCC-A085-0FC3-1997CC36D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Marks and Channels (III)</a:t>
            </a:r>
            <a:endParaRPr lang="LID4096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B20130-651B-60FC-7977-2750D260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2637B48-7300-4AA3-A318-3DF410CB4F23}" type="datetime1">
              <a:rPr lang="en-GB" smtClean="0"/>
              <a:t>19/10/2026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6BAB10-CD45-D8B8-DA21-376D5A8FC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D04E0-5F42-E1EF-897B-262FF40BA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03171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C5836-F3F0-8F20-F535-7545E5A65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 effectiveness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F5E4A-5303-0B02-5CB8-1B3A1DE47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Not all channels are effective for all attribute types</a:t>
            </a:r>
          </a:p>
          <a:p>
            <a:r>
              <a:rPr lang="en-GB" dirty="0"/>
              <a:t>Ordered attributes</a:t>
            </a:r>
          </a:p>
          <a:p>
            <a:pPr lvl="1"/>
            <a:r>
              <a:rPr lang="en-GB" dirty="0"/>
              <a:t>If sequential, needs a low point</a:t>
            </a:r>
          </a:p>
          <a:p>
            <a:pPr lvl="1"/>
            <a:r>
              <a:rPr lang="en-GB" dirty="0"/>
              <a:t>If diverging, needs a centre point</a:t>
            </a:r>
          </a:p>
          <a:p>
            <a:pPr lvl="1"/>
            <a:r>
              <a:rPr lang="en-GB" dirty="0"/>
              <a:t>If cyclical, needs a way to illustrate that low and high point are the same</a:t>
            </a:r>
          </a:p>
          <a:p>
            <a:r>
              <a:rPr lang="en-GB" dirty="0"/>
              <a:t>Categorical attributes</a:t>
            </a:r>
          </a:p>
          <a:p>
            <a:pPr lvl="1"/>
            <a:r>
              <a:rPr lang="en-GB" dirty="0"/>
              <a:t>Needs to </a:t>
            </a:r>
            <a:r>
              <a:rPr lang="en-GB" i="1" dirty="0"/>
              <a:t>identify</a:t>
            </a:r>
            <a:r>
              <a:rPr lang="en-GB" dirty="0"/>
              <a:t> categories</a:t>
            </a:r>
          </a:p>
          <a:p>
            <a:r>
              <a:rPr lang="en-GB" dirty="0"/>
              <a:t>On top of that, research has shown that some channels are inherently more effective than others</a:t>
            </a:r>
          </a:p>
          <a:p>
            <a:pPr lvl="1"/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367EC-791F-1103-1080-1E29DAFEF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F88923-70D2-5650-CA55-746B8940F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2896F-C601-B73F-787D-4F8C51D6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4655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F8BF5-10A7-2475-9076-0BE8C59A2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Channels in order of effectiveness (high to low)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71F22E5-AD14-A813-EB4C-607FA10BD32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1947097" y="1825625"/>
            <a:ext cx="2963806" cy="4351338"/>
          </a:xfrm>
          <a:prstGeom prst="rect">
            <a:avLst/>
          </a:prstGeo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B68446B-2D9F-8CE4-0091-068719DE70C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6181364" y="2215107"/>
            <a:ext cx="5163271" cy="3572374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CC10A0-B7D1-51E8-CA90-9D2F57615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DDDD6E-CB32-DC26-B2EC-8B9454894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0D8E0-2C93-0DF7-9C93-09A4EB32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9582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8AC50-31BB-9F2D-13E3-CB0E1DBFD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 and discussion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C580D-353B-1C38-48AA-2EB7AA7C0B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In this visualization, identify</a:t>
            </a:r>
          </a:p>
          <a:p>
            <a:pPr lvl="1"/>
            <a:r>
              <a:rPr lang="en-GB" dirty="0"/>
              <a:t>Marks</a:t>
            </a:r>
          </a:p>
          <a:p>
            <a:pPr lvl="1"/>
            <a:r>
              <a:rPr lang="en-GB" dirty="0"/>
              <a:t>Channels</a:t>
            </a:r>
          </a:p>
          <a:p>
            <a:r>
              <a:rPr lang="en-GB" dirty="0"/>
              <a:t>Rank the channels by effectiveness</a:t>
            </a:r>
          </a:p>
          <a:p>
            <a:r>
              <a:rPr lang="en-GB" dirty="0"/>
              <a:t>Source: </a:t>
            </a:r>
            <a:r>
              <a:rPr lang="en-GB" dirty="0">
                <a:hlinkClick r:id="rId2"/>
              </a:rPr>
              <a:t>https://pudding.cool/2024/10/nba-uniforms/</a:t>
            </a:r>
            <a:r>
              <a:rPr lang="en-GB" dirty="0"/>
              <a:t> 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877D0D3-462F-054A-7A03-47C44592A5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 bwMode="auto">
          <a:xfrm>
            <a:off x="5568696" y="1825625"/>
            <a:ext cx="5931408" cy="265230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CC446-5EB6-AC14-902C-1A9A5450F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1B3717-83F0-3D5D-E4B4-0F86E4B9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BE423-D7B6-D5CA-B391-20CE4FE45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8036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2381F-3D0A-F398-39C7-EF0009E0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colour channels</a:t>
            </a: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519AFF7-FFB9-C022-A8EA-A4BF148887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colour channels are </a:t>
            </a:r>
          </a:p>
          <a:p>
            <a:pPr lvl="1"/>
            <a:r>
              <a:rPr lang="en-GB" dirty="0"/>
              <a:t>Hue</a:t>
            </a:r>
          </a:p>
          <a:p>
            <a:pPr lvl="1"/>
            <a:r>
              <a:rPr lang="en-GB" dirty="0"/>
              <a:t>Saturation</a:t>
            </a:r>
          </a:p>
          <a:p>
            <a:pPr lvl="1"/>
            <a:r>
              <a:rPr lang="en-GB" dirty="0"/>
              <a:t>Luminance</a:t>
            </a:r>
          </a:p>
          <a:p>
            <a:r>
              <a:rPr lang="en-GB" dirty="0"/>
              <a:t>How we perceive colour is determined by</a:t>
            </a:r>
          </a:p>
          <a:p>
            <a:pPr lvl="1"/>
            <a:r>
              <a:rPr lang="en-GB" dirty="0"/>
              <a:t>Our retina</a:t>
            </a:r>
          </a:p>
          <a:p>
            <a:pPr lvl="1"/>
            <a:r>
              <a:rPr lang="en-GB" dirty="0"/>
              <a:t>Out brain</a:t>
            </a:r>
          </a:p>
          <a:p>
            <a:r>
              <a:rPr lang="en-GB" dirty="0"/>
              <a:t>RGB does little to help here</a:t>
            </a:r>
            <a:endParaRPr lang="LID4096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C4CFD9-B7E2-1E29-4C07-F7F66268B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8BF0BF-C6B7-D1F8-1D02-81625FCF3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4C090-7B94-F2E3-286B-D72115A5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06973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37C4-D1B8-8376-EF24-D7FA68712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retina</a:t>
            </a:r>
            <a:endParaRPr lang="LID4096" dirty="0"/>
          </a:p>
        </p:txBody>
      </p:sp>
      <p:pic>
        <p:nvPicPr>
          <p:cNvPr id="9" name="Content Placeholder 8" descr="Human Receptors">
            <a:extLst>
              <a:ext uri="{FF2B5EF4-FFF2-40B4-BE49-F238E27FC236}">
                <a16:creationId xmlns:a16="http://schemas.microsoft.com/office/drawing/2014/main" id="{08F21BCD-4ED9-D04A-CA64-B536ECEF0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98136" y="1825625"/>
            <a:ext cx="5795727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E14B81-12E5-2C70-B066-CBE9D4BCF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2C1264-A9C8-5251-6DF4-560E8AC70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4300F-E32E-1973-2FDF-89B0113B9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73027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6FE45-14F2-3181-29E6-A2B6DE7F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Short (S), Medium (M), and Long (L) Cones</a:t>
            </a:r>
            <a:endParaRPr lang="LID4096" dirty="0"/>
          </a:p>
        </p:txBody>
      </p:sp>
      <p:pic>
        <p:nvPicPr>
          <p:cNvPr id="7" name="Content Placeholder 6" descr="https://external-content.duckduckgo.com/iu/?u=https%3A%2F%2Ftse1.mm.bing.net%2Fth%2Fid%2FOIP.JtcgVhp5dZxJOXjGAQpTNQHaF8%3Fpid%3DApi&amp;f=1&amp;ipt=4086a98c363643fcb889ec75d06f477cf728e80d9ef0a167f0c9f6aa2873ff47&amp;ipo=images">
            <a:extLst>
              <a:ext uri="{FF2B5EF4-FFF2-40B4-BE49-F238E27FC236}">
                <a16:creationId xmlns:a16="http://schemas.microsoft.com/office/drawing/2014/main" id="{8B23C6B6-5511-5179-21D8-B2808F2A7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67049" y="1736524"/>
            <a:ext cx="5762625" cy="4619826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49E38-5668-4627-BF00-D844A8635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739C5-0374-3DF8-07B3-5454CAF74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4EFF9-F919-6BBF-0FC5-8499D4DAA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53003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7F3CB-BC63-1EE4-9559-DA57B1FA9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spaces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0B6F4-93EA-7951-5920-05ED6AF13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RGB is a trick:</a:t>
            </a:r>
          </a:p>
          <a:p>
            <a:pPr lvl="1"/>
            <a:r>
              <a:rPr lang="en-GB" dirty="0"/>
              <a:t>Stimulates the cones with certain intensities</a:t>
            </a:r>
          </a:p>
          <a:p>
            <a:pPr lvl="1"/>
            <a:r>
              <a:rPr lang="en-GB" dirty="0"/>
              <a:t>Your brain thinks it's seeing a particular colour</a:t>
            </a:r>
          </a:p>
          <a:p>
            <a:r>
              <a:rPr lang="en-GB" dirty="0"/>
              <a:t>HSV/HSL is closer to the perceived colour</a:t>
            </a:r>
          </a:p>
          <a:p>
            <a:pPr lvl="1"/>
            <a:r>
              <a:rPr lang="en-GB" dirty="0"/>
              <a:t>Hue is the primary colour – what a child would call the colour</a:t>
            </a:r>
          </a:p>
          <a:p>
            <a:pPr lvl="1"/>
            <a:r>
              <a:rPr lang="en-GB" dirty="0"/>
              <a:t>Saturation is how strong the colour is: 0 saturation: grayscale</a:t>
            </a:r>
          </a:p>
          <a:p>
            <a:pPr lvl="1"/>
            <a:r>
              <a:rPr lang="en-GB" dirty="0"/>
              <a:t>Value/lightness is how bright the colour is (0 = black)</a:t>
            </a:r>
          </a:p>
          <a:p>
            <a:pPr lvl="2"/>
            <a:r>
              <a:rPr lang="en-GB" dirty="0"/>
              <a:t>Maximum value: The pure colour</a:t>
            </a:r>
          </a:p>
          <a:p>
            <a:pPr lvl="2"/>
            <a:r>
              <a:rPr lang="en-GB" dirty="0"/>
              <a:t>Maximum lightness: White</a:t>
            </a:r>
          </a:p>
          <a:p>
            <a:pPr lvl="2"/>
            <a:endParaRPr lang="en-GB" dirty="0"/>
          </a:p>
          <a:p>
            <a:pPr lvl="1"/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B2B70-0D4B-5DE2-A524-6B1EBBA54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4A527-4EAF-C880-D337-12AC25379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3D994-81B1-E71A-ABE2-E24D9A9D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749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211F6-1CB6-888E-532B-5B15622F2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Luminance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A9814-B62A-9481-1A76-A025439480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Hue and saturation is how we see</a:t>
            </a:r>
          </a:p>
          <a:p>
            <a:r>
              <a:rPr lang="en-GB" dirty="0"/>
              <a:t>Lightness and value don't</a:t>
            </a:r>
          </a:p>
          <a:p>
            <a:r>
              <a:rPr lang="en-GB" dirty="0"/>
              <a:t>Note yellow on the diagram</a:t>
            </a:r>
          </a:p>
          <a:p>
            <a:r>
              <a:rPr lang="en-GB" dirty="0"/>
              <a:t>It hits almost peak on both M- and L-cones</a:t>
            </a:r>
          </a:p>
          <a:p>
            <a:r>
              <a:rPr lang="en-GB" dirty="0"/>
              <a:t>We perceive yellow as very bright</a:t>
            </a:r>
          </a:p>
          <a:p>
            <a:r>
              <a:rPr lang="en-GB" dirty="0"/>
              <a:t>This is high </a:t>
            </a:r>
            <a:r>
              <a:rPr lang="en-GB" i="1" dirty="0"/>
              <a:t>luminance</a:t>
            </a:r>
            <a:endParaRPr lang="en-GB" dirty="0"/>
          </a:p>
          <a:p>
            <a:endParaRPr lang="en-GB" dirty="0"/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0A371-C92D-C7AF-AE02-C3B98A4D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EB5B4-67E3-0D4C-D5B8-C8DDDC64D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41FA7-9B30-26CB-20F5-98B6D97A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13</a:t>
            </a:fld>
            <a:endParaRPr lang="en-DK"/>
          </a:p>
        </p:txBody>
      </p:sp>
      <p:pic>
        <p:nvPicPr>
          <p:cNvPr id="8" name="Content Placeholder 6" descr="https://external-content.duckduckgo.com/iu/?u=https%3A%2F%2Ftse1.mm.bing.net%2Fth%2Fid%2FOIP.JtcgVhp5dZxJOXjGAQpTNQHaF8%3Fpid%3DApi&amp;f=1&amp;ipt=4086a98c363643fcb889ec75d06f477cf728e80d9ef0a167f0c9f6aa2873ff47&amp;ipo=images">
            <a:extLst>
              <a:ext uri="{FF2B5EF4-FFF2-40B4-BE49-F238E27FC236}">
                <a16:creationId xmlns:a16="http://schemas.microsoft.com/office/drawing/2014/main" id="{B658D637-49CA-9C32-8424-DDEB778E4E3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505575" y="2191544"/>
            <a:ext cx="45148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20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4C438-7DE4-548A-A9CB-53E84656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Luminance compared to others</a:t>
            </a:r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B12596F-5F8C-3292-8C88-F0AB4C3BE3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80794" y="1947672"/>
            <a:ext cx="8358080" cy="397764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5D0A6-9908-4996-55C6-1B2D148CB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2650A-CAC8-257D-AF0A-E97431625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0BAC5E-AC20-9B28-7D9E-8F3E3265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69865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F0C1E-8A84-80A2-6B33-741EC65B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colour channels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0E89E-C4DC-B0B5-0DF6-E9F3061027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Saturation</a:t>
            </a:r>
          </a:p>
          <a:p>
            <a:pPr lvl="1"/>
            <a:r>
              <a:rPr lang="en-GB" dirty="0"/>
              <a:t>A channel of middling effectiveness for sequential data</a:t>
            </a:r>
          </a:p>
          <a:p>
            <a:pPr lvl="1"/>
            <a:r>
              <a:rPr lang="en-GB" dirty="0"/>
              <a:t>Works in both colour and black/white</a:t>
            </a:r>
          </a:p>
          <a:p>
            <a:r>
              <a:rPr lang="en-GB" dirty="0"/>
              <a:t>Luminance</a:t>
            </a:r>
          </a:p>
          <a:p>
            <a:pPr lvl="1"/>
            <a:r>
              <a:rPr lang="en-GB" dirty="0"/>
              <a:t>A channel of middling effectiveness for sequential data</a:t>
            </a:r>
          </a:p>
          <a:p>
            <a:pPr lvl="1"/>
            <a:r>
              <a:rPr lang="en-GB" dirty="0"/>
              <a:t>Hard to compute</a:t>
            </a:r>
          </a:p>
          <a:p>
            <a:pPr lvl="1"/>
            <a:r>
              <a:rPr lang="en-GB" dirty="0"/>
              <a:t>Easiest is to stay with the same hue and use value/lightness</a:t>
            </a:r>
          </a:p>
          <a:p>
            <a:r>
              <a:rPr lang="en-GB" dirty="0"/>
              <a:t>Hue</a:t>
            </a:r>
          </a:p>
          <a:p>
            <a:pPr lvl="1"/>
            <a:r>
              <a:rPr lang="en-GB" dirty="0"/>
              <a:t>A channel of high effectiveness for sequential data</a:t>
            </a:r>
          </a:p>
          <a:p>
            <a:pPr lvl="1"/>
            <a:r>
              <a:rPr lang="en-GB" dirty="0"/>
              <a:t>Beware of colour blindness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C856DA-7667-A4B6-4F18-0BD7EDB08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B4D8E-733D-B47D-1DCA-8527206C9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C1406-CD9F-57DE-C696-73E4D96E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07214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3193D-21BF-06C6-0990-E4A9FAE2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Colour blindness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E073-414D-8856-6821-5C41F07F3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Colour blindness is caused by reduction or absence of L-, M-, or S-cones</a:t>
            </a:r>
          </a:p>
          <a:p>
            <a:r>
              <a:rPr lang="en-GB" dirty="0"/>
              <a:t>This effects colour perception of </a:t>
            </a:r>
            <a:r>
              <a:rPr lang="en-GB" i="1" dirty="0"/>
              <a:t>all</a:t>
            </a:r>
            <a:r>
              <a:rPr lang="en-GB" dirty="0"/>
              <a:t> colours (but some more than others)</a:t>
            </a:r>
          </a:p>
          <a:p>
            <a:r>
              <a:rPr lang="en-GB" dirty="0"/>
              <a:t>1 in 12 men are affected by so-called "red/green" colour blindness</a:t>
            </a:r>
          </a:p>
          <a:p>
            <a:r>
              <a:rPr lang="en-GB" dirty="0"/>
              <a:t>1 in 200 are affected by other forms</a:t>
            </a:r>
          </a:p>
          <a:p>
            <a:r>
              <a:rPr lang="en-GB" dirty="0"/>
              <a:t>1 in 200 women are affected by colour blindness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C95E7-7FED-1384-1249-68B25A97E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4A3FA-4631-9F5C-0733-34FF75D0D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A1667-EA5A-FFBC-9426-11815800F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87974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43EC2-DF66-1030-158F-5A9EF45A6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colour blindness</a:t>
            </a:r>
            <a:endParaRPr lang="LID4096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91F657E5-97E4-6133-C6D0-6B4B202297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6661323"/>
              </p:ext>
            </p:extLst>
          </p:nvPr>
        </p:nvGraphicFramePr>
        <p:xfrm>
          <a:off x="838200" y="1825624"/>
          <a:ext cx="10515600" cy="408441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748225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333482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1243323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6827223"/>
                    </a:ext>
                  </a:extLst>
                </a:gridCol>
              </a:tblGrid>
              <a:tr h="560850">
                <a:tc>
                  <a:txBody>
                    <a:bodyPr/>
                    <a:lstStyle/>
                    <a:p>
                      <a:r>
                        <a:rPr lang="en-GB" dirty="0"/>
                        <a:t>Type of missing cone(s)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Partial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Full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Colloquial term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2527370"/>
                  </a:ext>
                </a:extLst>
              </a:tr>
              <a:tr h="560850">
                <a:tc>
                  <a:txBody>
                    <a:bodyPr/>
                    <a:lstStyle/>
                    <a:p>
                      <a:r>
                        <a:rPr lang="en-GB" dirty="0"/>
                        <a:t>None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Trichromatic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Trichromatic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Normal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0055392"/>
                  </a:ext>
                </a:extLst>
              </a:tr>
              <a:tr h="560850">
                <a:tc>
                  <a:txBody>
                    <a:bodyPr/>
                    <a:lstStyle/>
                    <a:p>
                      <a:r>
                        <a:rPr lang="en-GB" dirty="0"/>
                        <a:t>L-cone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Protanomaly (red-weak)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Protanopia (red-blind)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Red/green colourblind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9924764"/>
                  </a:ext>
                </a:extLst>
              </a:tr>
              <a:tr h="560850">
                <a:tc>
                  <a:txBody>
                    <a:bodyPr/>
                    <a:lstStyle/>
                    <a:p>
                      <a:r>
                        <a:rPr lang="en-GB" dirty="0"/>
                        <a:t>M-cone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Deuteranomaly (green-weak)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Deuteranopia (green-blind)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Red/green colourblind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062170"/>
                  </a:ext>
                </a:extLst>
              </a:tr>
              <a:tr h="560850">
                <a:tc>
                  <a:txBody>
                    <a:bodyPr/>
                    <a:lstStyle/>
                    <a:p>
                      <a:r>
                        <a:rPr lang="en-GB" dirty="0"/>
                        <a:t>S-cone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Tritanomaly (blue-weak)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Tritanopia (blue-blind)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Blue/yellow colourblind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3342547"/>
                  </a:ext>
                </a:extLst>
              </a:tr>
              <a:tr h="560850">
                <a:tc>
                  <a:txBody>
                    <a:bodyPr/>
                    <a:lstStyle/>
                    <a:p>
                      <a:r>
                        <a:rPr lang="en-GB" dirty="0"/>
                        <a:t>L-cone and S-cone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Blue cone Monochromacy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Completely colourblind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59321"/>
                  </a:ext>
                </a:extLst>
              </a:tr>
              <a:tr h="560850">
                <a:tc>
                  <a:txBody>
                    <a:bodyPr/>
                    <a:lstStyle/>
                    <a:p>
                      <a:r>
                        <a:rPr lang="en-GB" dirty="0"/>
                        <a:t>All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Monochromacy (achromatopsia)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Completely colourblind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58840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F475-B331-FEE1-B12F-426633843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C7D36-A9F4-A9D0-E480-11BB756EB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6C4BB-C1A0-B721-E30B-14AB1F64F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39517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F2050-D5F3-10E5-801C-3125CC86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Example: d3.schemePaired</a:t>
            </a:r>
            <a:br>
              <a:rPr lang="en-GB" dirty="0"/>
            </a:br>
            <a:r>
              <a:rPr lang="en-GB" sz="2700" dirty="0"/>
              <a:t>(source: </a:t>
            </a:r>
            <a:r>
              <a:rPr lang="en-GB" sz="2700" dirty="0">
                <a:hlinkClick r:id="rId2"/>
              </a:rPr>
              <a:t>https://www.color-blindness.com/coblis-color-blindness-simulator/</a:t>
            </a:r>
            <a:r>
              <a:rPr lang="en-GB" sz="2700" dirty="0"/>
              <a:t>)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59D79-4C56-4C76-4D68-310B79843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481"/>
            <a:ext cx="10515600" cy="4351338"/>
          </a:xfrm>
        </p:spPr>
        <p:txBody>
          <a:bodyPr/>
          <a:lstStyle/>
          <a:p>
            <a:r>
              <a:rPr lang="en-GB" dirty="0"/>
              <a:t>Normal</a:t>
            </a:r>
          </a:p>
          <a:p>
            <a:endParaRPr lang="en-GB" dirty="0"/>
          </a:p>
          <a:p>
            <a:r>
              <a:rPr lang="en-GB" dirty="0"/>
              <a:t>Red-blind</a:t>
            </a:r>
          </a:p>
          <a:p>
            <a:endParaRPr lang="en-GB" dirty="0"/>
          </a:p>
          <a:p>
            <a:r>
              <a:rPr lang="en-GB" dirty="0"/>
              <a:t>Green-blind</a:t>
            </a:r>
          </a:p>
          <a:p>
            <a:endParaRPr lang="en-GB" dirty="0"/>
          </a:p>
          <a:p>
            <a:r>
              <a:rPr lang="en-GB" dirty="0"/>
              <a:t>Blue-blind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5513D-E71C-6C1A-3477-24DAC7140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F08D6-3779-0A4C-857E-745B767BB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D75FA-11F3-0EB6-2A38-01B3CFF06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18</a:t>
            </a:fld>
            <a:endParaRPr lang="en-DK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E3DEB0-C3BE-7521-E335-DC82369CA5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056" y="2195850"/>
            <a:ext cx="7392432" cy="61921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ED482F-638E-4072-8F76-BE6FC92EA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056" y="3231006"/>
            <a:ext cx="7363853" cy="63826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99E27D6-07EA-0635-E544-787D470EEB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056" y="4241652"/>
            <a:ext cx="7373379" cy="600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F127D5-22D3-F2CA-503D-83BAF10EAC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583" y="5295861"/>
            <a:ext cx="7354326" cy="61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593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ACBCF-D947-71B5-7FA7-D7F06DFC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deal with colour blindness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0D01-7E13-B15F-C5AD-B26411D38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Know the usage situation</a:t>
            </a:r>
          </a:p>
          <a:p>
            <a:r>
              <a:rPr lang="en-GB" dirty="0"/>
              <a:t>Think twice before using hue</a:t>
            </a:r>
          </a:p>
          <a:p>
            <a:r>
              <a:rPr lang="en-GB" dirty="0"/>
              <a:t>Don't use too many different colours</a:t>
            </a:r>
          </a:p>
          <a:p>
            <a:r>
              <a:rPr lang="en-GB" dirty="0"/>
              <a:t>Use a colour simulator</a:t>
            </a:r>
          </a:p>
          <a:p>
            <a:pPr lvl="1"/>
            <a:r>
              <a:rPr lang="en-GB" dirty="0"/>
              <a:t>Preferably: Use colourblind testers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C27797-237F-7315-5883-44209C4EB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254793-0985-5C2B-61ED-EBD269CBF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B5E0A-5ED7-863B-AEE1-1176CB778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19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692197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44490-0733-9FFB-2B94-D49F9B12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Popout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E885D-88E2-92C8-8FD7-E66D41CA41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One or more visual elements stand out from the others</a:t>
            </a:r>
          </a:p>
          <a:p>
            <a:pPr lvl="1"/>
            <a:r>
              <a:rPr lang="en-GB" dirty="0"/>
              <a:t>A few red elements in a field of green objects</a:t>
            </a:r>
          </a:p>
          <a:p>
            <a:pPr lvl="1"/>
            <a:r>
              <a:rPr lang="en-GB" dirty="0"/>
              <a:t>Moving elements against a backdrop of stationary ones</a:t>
            </a:r>
          </a:p>
          <a:p>
            <a:r>
              <a:rPr lang="en-GB" dirty="0"/>
              <a:t>This works immediately because of our tendency to see images as shapes and patterns</a:t>
            </a:r>
          </a:p>
          <a:p>
            <a:r>
              <a:rPr lang="en-GB" dirty="0"/>
              <a:t>In psychology, this is called "Gestalt"</a:t>
            </a:r>
          </a:p>
          <a:p>
            <a:r>
              <a:rPr lang="en-GB" dirty="0"/>
              <a:t>The "Gestalt Principles" or "Gestalt Laws of Grouping" can help us to design popout.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AFAA5-911F-C73E-C742-39C09576A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CA98D-D901-10F4-15BD-7BE788BD8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1991E-EC2C-873E-A017-A7F3006A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40331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7D63C-4A58-F2B4-8F19-84318F41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Gestalt Principles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A98CF-9353-C538-E98B-FAA848BACD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Similarity</a:t>
            </a:r>
          </a:p>
          <a:p>
            <a:r>
              <a:rPr lang="en-GB" dirty="0"/>
              <a:t>Continuity</a:t>
            </a:r>
          </a:p>
          <a:p>
            <a:r>
              <a:rPr lang="en-GB" dirty="0"/>
              <a:t>Proximity</a:t>
            </a:r>
          </a:p>
          <a:p>
            <a:r>
              <a:rPr lang="en-GB" dirty="0"/>
              <a:t>Closure</a:t>
            </a:r>
          </a:p>
          <a:p>
            <a:r>
              <a:rPr lang="en-GB" dirty="0"/>
              <a:t>Common Fate</a:t>
            </a:r>
          </a:p>
          <a:p>
            <a:r>
              <a:rPr lang="en-GB" dirty="0"/>
              <a:t>Figure-Ground</a:t>
            </a:r>
          </a:p>
          <a:p>
            <a:r>
              <a:rPr lang="en-GB" dirty="0"/>
              <a:t>Symmetry &amp; Order</a:t>
            </a:r>
          </a:p>
          <a:p>
            <a:r>
              <a:rPr lang="en-GB" dirty="0" err="1"/>
              <a:t>Prägnanz</a:t>
            </a:r>
            <a:endParaRPr lang="en-GB" dirty="0"/>
          </a:p>
          <a:p>
            <a:r>
              <a:rPr lang="en-GB" dirty="0"/>
              <a:t>Common Region</a:t>
            </a:r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1C0491-B4C6-B28A-A915-0641C48B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47276-EBD8-7B24-DC06-AB6C37D6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97547-A6D1-9E5B-D03B-BCFF2311C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5934809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72B3-8730-BEFB-581A-B12BE4769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Similarity</a:t>
            </a:r>
            <a:endParaRPr lang="LID4096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AF95D2-D7FD-341C-6D14-1FB11E0EB30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Shapes that look alike are grouped together</a:t>
            </a:r>
          </a:p>
          <a:p>
            <a:r>
              <a:rPr lang="en-GB" dirty="0"/>
              <a:t>Note how the middle shapes pop out</a:t>
            </a:r>
            <a:endParaRPr lang="LID4096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4693E7C-6488-B3A3-A251-E033B900B6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7072076" y="2315133"/>
            <a:ext cx="3381847" cy="337232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8C909-0559-095C-BBA6-5437484F8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8399E-C521-3E5A-94AA-1F4093C35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7D7DA-9874-9BBC-803E-B2EE2D381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22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58449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B4D10-CD0A-3905-0D27-41993005B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Continuity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DAA94-C850-C5FA-13B5-4834ECAAF6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Objects on a smooth curve seem to go together</a:t>
            </a:r>
          </a:p>
          <a:p>
            <a:r>
              <a:rPr lang="en-GB" dirty="0"/>
              <a:t>Here, the objects on the top pop out from the others</a:t>
            </a:r>
          </a:p>
          <a:p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0002E6F-3242-97E6-275D-CB23822143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565502" y="1825625"/>
            <a:ext cx="4394996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364FB-A9AE-FBED-281F-B9BAD1DAE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DEBFD-FFA3-833B-E999-4E658C9E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781CA8-4248-1AAF-8B62-508E85A5E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23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57407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CA18F-58C3-082B-7B28-E01D9AD59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Proximity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EF469-D063-FD82-8D0D-581A119857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Objects that are close together seems to belong to the same group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420A07F-A39C-E4FA-26C3-6CFDBC89666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576631" y="1825625"/>
            <a:ext cx="4372738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C7964-7202-06B6-0F94-1A510BBD4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014CC-070E-00F0-7637-1DEFF80E6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EFCE59-16B6-9E93-44B8-E45720191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24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591245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B91DF-6541-4876-F35A-9F7C1314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Closure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5A3CC-6059-2818-0640-56C9453DCE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Our brain "connects the dots" to complete shapes</a:t>
            </a:r>
          </a:p>
          <a:p>
            <a:r>
              <a:rPr lang="en-GB" dirty="0"/>
              <a:t>Notice the triangle that isn't really there</a:t>
            </a:r>
          </a:p>
          <a:p>
            <a:r>
              <a:rPr lang="en-GB" dirty="0"/>
              <a:t>Use this to subtly create groupings among elements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CC26810-C075-FAB1-6A24-38227880EA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615817" y="1825625"/>
            <a:ext cx="4294365" cy="4351338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69C35-FDE7-EA73-FC12-F7C7F5222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E2C97-F4F9-3481-B979-EAD1EF2E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2A4E67-4A45-47C4-E78C-A30A4CB00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25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91153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8C8FA-062B-DBB3-A434-42DE8A82B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Common Fate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489C-4040-6784-E73F-338F260616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Objects that move together are grouped together</a:t>
            </a:r>
          </a:p>
          <a:p>
            <a:r>
              <a:rPr lang="en-GB" dirty="0"/>
              <a:t>Notice that this is stronger than similarity</a:t>
            </a:r>
            <a:endParaRPr lang="LID4096" dirty="0"/>
          </a:p>
        </p:txBody>
      </p:sp>
      <p:pic>
        <p:nvPicPr>
          <p:cNvPr id="8" name="Content Placeholder 7" descr="Gif image showing red and black dots moving to illustrate a point about the law of common fate.">
            <a:extLst>
              <a:ext uri="{FF2B5EF4-FFF2-40B4-BE49-F238E27FC236}">
                <a16:creationId xmlns:a16="http://schemas.microsoft.com/office/drawing/2014/main" id="{A3FD6D5F-EB8C-6A83-447F-3B3D429A47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58000" y="3348831"/>
            <a:ext cx="3810000" cy="13049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E430A0-B76C-D0F0-83CC-94112E1A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9E532C-E68B-E236-9B5E-511C1514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2264B-3FD1-8FCC-054A-29B05CE53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1947655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36E91-7A4B-B1C1-AD0A-5A14408DB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Bonus Principle: Connectedness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77F818-F3D6-AFB3-5CAA-4D8A286B0B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Not really a Gestalt principle</a:t>
            </a:r>
          </a:p>
          <a:p>
            <a:r>
              <a:rPr lang="en-GB" dirty="0"/>
              <a:t>We can connect the dots ourselves</a:t>
            </a:r>
          </a:p>
          <a:p>
            <a:r>
              <a:rPr lang="en-GB" dirty="0"/>
              <a:t>Not terribly subtle, but works</a:t>
            </a:r>
            <a:endParaRPr lang="LID4096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353538-FFB2-63E9-3CD5-18F88FB0C48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 bwMode="auto">
          <a:xfrm>
            <a:off x="6686260" y="2076975"/>
            <a:ext cx="4153480" cy="384863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30E90-CA8C-9607-9196-AB04702C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B7FFBE2-17ED-4487-A6AD-53E5CC708D51}" type="datetime1">
              <a:rPr lang="en-GB" smtClean="0"/>
              <a:t>19/10/2026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E46D2-5B89-F71F-8B61-9A99F8B0F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6933E-5F9F-077B-B0BA-6C4E5BC0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27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656781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D569-21A3-B14D-C255-7EE1E8CE1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Workshop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C5217-75F2-6DD0-4C70-8C6063D2E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Continue the design from last time (see the uploaded exercises)</a:t>
            </a:r>
          </a:p>
          <a:p>
            <a:endParaRPr lang="LID4096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A106A-9069-C540-11EA-A7738658A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B8183B9-126C-4932-94BE-502505D2BD01}" type="datetime1">
              <a:rPr lang="en-GB" smtClean="0"/>
              <a:t>19/10/2026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D7170-D7DE-65CF-D11F-1EC167B19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da-DK"/>
              <a:t>Ole I Hougaard, oih@via.dk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03455-88B9-FAA3-92B4-1A883ECC4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49D356-B6C6-4BB6-8D42-BECF83CAE2C9}" type="slidenum">
              <a:rPr lang="en-DK" smtClean="0"/>
              <a:t>28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18431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IH.potx" id="{B1C050D2-457E-4331-99AF-8A814FAF0A1D}" vid="{C5388104-6551-4CE6-8B29-5F2B17820F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OIH</Template>
  <TotalTime>137</TotalTime>
  <Words>1126</Words>
  <Application>Microsoft Office PowerPoint</Application>
  <PresentationFormat>Widescreen</PresentationFormat>
  <Paragraphs>249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Calibri Light</vt:lpstr>
      <vt:lpstr>Consolas</vt:lpstr>
      <vt:lpstr>Office Theme</vt:lpstr>
      <vt:lpstr>VIZ1, Session 6</vt:lpstr>
      <vt:lpstr>The what, the why, and the how</vt:lpstr>
      <vt:lpstr>Marks and Channels (I)</vt:lpstr>
      <vt:lpstr>Marks and Channels (II)</vt:lpstr>
      <vt:lpstr>Marks and Channels (III)</vt:lpstr>
      <vt:lpstr>Channel effectiveness</vt:lpstr>
      <vt:lpstr>Channels in order of effectiveness (high to low)</vt:lpstr>
      <vt:lpstr>Break and discussion</vt:lpstr>
      <vt:lpstr>The colour channels</vt:lpstr>
      <vt:lpstr>The retina</vt:lpstr>
      <vt:lpstr>Short (S), Medium (M), and Long (L) Cones</vt:lpstr>
      <vt:lpstr>Colour spaces</vt:lpstr>
      <vt:lpstr>Luminance</vt:lpstr>
      <vt:lpstr>Luminance compared to others</vt:lpstr>
      <vt:lpstr>Using colour channels</vt:lpstr>
      <vt:lpstr>Colour blindness</vt:lpstr>
      <vt:lpstr>Types of colour blindness</vt:lpstr>
      <vt:lpstr>Example: d3.schemePaired (source: https://www.color-blindness.com/coblis-color-blindness-simulator/) </vt:lpstr>
      <vt:lpstr>How to deal with colour blindness</vt:lpstr>
      <vt:lpstr>Popout</vt:lpstr>
      <vt:lpstr>Gestalt Principles</vt:lpstr>
      <vt:lpstr>Similarity</vt:lpstr>
      <vt:lpstr>Continuity</vt:lpstr>
      <vt:lpstr>Proximity</vt:lpstr>
      <vt:lpstr>Closure</vt:lpstr>
      <vt:lpstr>Common Fate</vt:lpstr>
      <vt:lpstr>Bonus Principle: Connectedness</vt:lpstr>
      <vt:lpstr>Workshop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 Ildsgaard Hougaard (OIH) | VIA</dc:creator>
  <cp:lastModifiedBy>Ole Ildsgaard Hougaard (OIH) | VIA</cp:lastModifiedBy>
  <cp:revision>3</cp:revision>
  <dcterms:created xsi:type="dcterms:W3CDTF">2026-10-18T18:02:08Z</dcterms:created>
  <dcterms:modified xsi:type="dcterms:W3CDTF">2026-10-19T05:24:50Z</dcterms:modified>
</cp:coreProperties>
</file>